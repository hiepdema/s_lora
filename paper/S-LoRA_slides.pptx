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10058400" cy="274320"/>
          </a:xfrm>
          <a:prstGeom prst="rect">
            <a:avLst/>
          </a:prstGeom>
          <a:noFill/>
        </p:spPr>
        <p:txBody>
          <a:bodyPr wrap="square" lIns="0" rIns="0" tIns="0" bIns="0">
            <a:spAutoFit/>
          </a:bodyPr>
          <a:lstStyle/>
          <a:p>
            <a:pPr algn="l">
              <a:lnSpc>
                <a:spcPct val="125000"/>
              </a:lnSpc>
              <a:spcAft>
                <a:spcPts val="600"/>
              </a:spcAft>
            </a:pPr>
            <a:r>
              <a:rPr sz="1200" b="1">
                <a:solidFill>
                  <a:srgbClr val="0D6F68"/>
                </a:solidFill>
                <a:latin typeface="Consolas"/>
              </a:rPr>
              <a:t>PARAMETER-EFFICIENT FINE-TUNING · E2E NLG</a:t>
            </a:r>
          </a:p>
        </p:txBody>
      </p:sp>
      <p:sp>
        <p:nvSpPr>
          <p:cNvPr id="5" name="TextBox 4"/>
          <p:cNvSpPr txBox="1"/>
          <p:nvPr/>
        </p:nvSpPr>
        <p:spPr>
          <a:xfrm>
            <a:off x="1188720" y="2286000"/>
            <a:ext cx="10058400" cy="1005840"/>
          </a:xfrm>
          <a:prstGeom prst="rect">
            <a:avLst/>
          </a:prstGeom>
          <a:noFill/>
        </p:spPr>
        <p:txBody>
          <a:bodyPr wrap="square" lIns="0" rIns="0" tIns="0" bIns="0">
            <a:spAutoFit/>
          </a:bodyPr>
          <a:lstStyle/>
          <a:p>
            <a:pPr algn="l">
              <a:lnSpc>
                <a:spcPct val="125000"/>
              </a:lnSpc>
              <a:spcAft>
                <a:spcPts val="600"/>
              </a:spcAft>
            </a:pPr>
            <a:r>
              <a:rPr sz="6200" b="0">
                <a:solidFill>
                  <a:srgbClr val="12191D"/>
                </a:solidFill>
                <a:latin typeface="Georgia"/>
              </a:rPr>
              <a:t>S-LoRA</a:t>
            </a:r>
          </a:p>
        </p:txBody>
      </p:sp>
      <p:sp>
        <p:nvSpPr>
          <p:cNvPr id="6" name="TextBox 5"/>
          <p:cNvSpPr txBox="1"/>
          <p:nvPr/>
        </p:nvSpPr>
        <p:spPr>
          <a:xfrm>
            <a:off x="1188720" y="3291840"/>
            <a:ext cx="9509760" cy="1097280"/>
          </a:xfrm>
          <a:prstGeom prst="rect">
            <a:avLst/>
          </a:prstGeom>
          <a:noFill/>
        </p:spPr>
        <p:txBody>
          <a:bodyPr wrap="square" lIns="0" rIns="0" tIns="0" bIns="0">
            <a:spAutoFit/>
          </a:bodyPr>
          <a:lstStyle/>
          <a:p>
            <a:pPr algn="l">
              <a:lnSpc>
                <a:spcPct val="130000"/>
              </a:lnSpc>
              <a:spcAft>
                <a:spcPts val="600"/>
              </a:spcAft>
            </a:pPr>
            <a:r>
              <a:rPr sz="2000" b="0">
                <a:solidFill>
                  <a:srgbClr val="54636C"/>
                </a:solidFill>
                <a:latin typeface="Segoe UI"/>
              </a:rPr>
              <a:t>Viết lại lớp tuyến tính thành một nhân tử vuông — ràng buộc cập nhật vào row space của trọng số gốc</a:t>
            </a:r>
          </a:p>
        </p:txBody>
      </p:sp>
      <p:sp>
        <p:nvSpPr>
          <p:cNvPr id="7" name="Rectangle 6"/>
          <p:cNvSpPr/>
          <p:nvPr/>
        </p:nvSpPr>
        <p:spPr>
          <a:xfrm>
            <a:off x="1188720" y="4617720"/>
            <a:ext cx="2743200" cy="1097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4864608"/>
            <a:ext cx="10058400" cy="822960"/>
          </a:xfrm>
          <a:prstGeom prst="rect">
            <a:avLst/>
          </a:prstGeom>
          <a:noFill/>
        </p:spPr>
        <p:txBody>
          <a:bodyPr wrap="square" lIns="0" rIns="0" tIns="0" bIns="0">
            <a:spAutoFit/>
          </a:bodyPr>
          <a:lstStyle/>
          <a:p>
            <a:pPr algn="l">
              <a:lnSpc>
                <a:spcPct val="125000"/>
              </a:lnSpc>
              <a:spcAft>
                <a:spcPts val="600"/>
              </a:spcAft>
            </a:pPr>
            <a:r>
              <a:rPr sz="1400" b="1">
                <a:solidFill>
                  <a:srgbClr val="12191D"/>
                </a:solidFill>
                <a:latin typeface="Segoe UI"/>
              </a:rPr>
              <a:t>Hiep Nguyen</a:t>
            </a:r>
            <a:r>
              <a:rPr sz="1400" b="0">
                <a:solidFill>
                  <a:srgbClr val="54636C"/>
                </a:solidFill>
                <a:latin typeface="Segoe UI"/>
              </a:rPr>
              <a:t>   ·   Qwen2.5-1.5B   ·   k_proj + v_proj   ·   26 run độc lập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515600" cy="274320"/>
          </a:xfrm>
          <a:prstGeom prst="rect">
            <a:avLst/>
          </a:prstGeom>
          <a:noFill/>
        </p:spPr>
        <p:txBody>
          <a:bodyPr wrap="square" lIns="0" rIns="0" tIns="0" bIns="0">
            <a:spAutoFit/>
          </a:bodyPr>
          <a:lstStyle/>
          <a:p>
            <a:pPr algn="l">
              <a:lnSpc>
                <a:spcPct val="125000"/>
              </a:lnSpc>
              <a:spcAft>
                <a:spcPts val="600"/>
              </a:spcAft>
            </a:pPr>
            <a:r>
              <a:rPr sz="1050" b="1">
                <a:solidFill>
                  <a:srgbClr val="0D6F68"/>
                </a:solidFill>
                <a:latin typeface="Consolas"/>
              </a:rPr>
              <a:t>VẤN ĐỀ</a:t>
            </a:r>
          </a:p>
        </p:txBody>
      </p:sp>
      <p:sp>
        <p:nvSpPr>
          <p:cNvPr id="4" name="TextBox 3"/>
          <p:cNvSpPr txBox="1"/>
          <p:nvPr/>
        </p:nvSpPr>
        <p:spPr>
          <a:xfrm>
            <a:off x="685800" y="777240"/>
            <a:ext cx="10881360" cy="731520"/>
          </a:xfrm>
          <a:prstGeom prst="rect">
            <a:avLst/>
          </a:prstGeom>
          <a:noFill/>
        </p:spPr>
        <p:txBody>
          <a:bodyPr wrap="square" lIns="0" rIns="0" tIns="0" bIns="0">
            <a:spAutoFit/>
          </a:bodyPr>
          <a:lstStyle/>
          <a:p>
            <a:pPr algn="l">
              <a:lnSpc>
                <a:spcPct val="105000"/>
              </a:lnSpc>
              <a:spcAft>
                <a:spcPts val="600"/>
              </a:spcAft>
            </a:pPr>
            <a:r>
              <a:rPr sz="3000" b="0">
                <a:solidFill>
                  <a:srgbClr val="12191D"/>
                </a:solidFill>
                <a:latin typeface="Georgia"/>
              </a:rPr>
              <a:t>Adapter trả tiền cho cả hai chiều của ma trận</a:t>
            </a:r>
          </a:p>
        </p:txBody>
      </p:sp>
      <p:sp>
        <p:nvSpPr>
          <p:cNvPr id="5" name="Rectangle 4"/>
          <p:cNvSpPr/>
          <p:nvPr/>
        </p:nvSpPr>
        <p:spPr>
          <a:xfrm>
            <a:off x="685800" y="1627632"/>
            <a:ext cx="10817352" cy="1097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020824"/>
            <a:ext cx="274320" cy="274320"/>
          </a:xfrm>
          <a:prstGeom prst="rect">
            <a:avLst/>
          </a:prstGeom>
          <a:noFill/>
        </p:spPr>
        <p:txBody>
          <a:bodyPr wrap="square" lIns="0" rIns="0" tIns="0" bIns="0">
            <a:spAutoFit/>
          </a:bodyPr>
          <a:lstStyle/>
          <a:p>
            <a:pPr algn="l">
              <a:lnSpc>
                <a:spcPct val="125000"/>
              </a:lnSpc>
              <a:spcAft>
                <a:spcPts val="600"/>
              </a:spcAft>
            </a:pPr>
            <a:r>
              <a:rPr sz="1550" b="0">
                <a:solidFill>
                  <a:srgbClr val="0D6F68"/>
                </a:solidFill>
                <a:latin typeface="Consolas"/>
              </a:rPr>
              <a:t>—</a:t>
            </a:r>
          </a:p>
        </p:txBody>
      </p:sp>
      <p:sp>
        <p:nvSpPr>
          <p:cNvPr id="7" name="TextBox 6"/>
          <p:cNvSpPr txBox="1"/>
          <p:nvPr/>
        </p:nvSpPr>
        <p:spPr>
          <a:xfrm>
            <a:off x="1069848" y="2020824"/>
            <a:ext cx="10497312" cy="786384"/>
          </a:xfrm>
          <a:prstGeom prst="rect">
            <a:avLst/>
          </a:prstGeom>
          <a:noFill/>
        </p:spPr>
        <p:txBody>
          <a:bodyPr wrap="square" lIns="0" rIns="0" tIns="0" bIns="0">
            <a:spAutoFit/>
          </a:bodyPr>
          <a:lstStyle/>
          <a:p>
            <a:pPr algn="l">
              <a:lnSpc>
                <a:spcPct val="122000"/>
              </a:lnSpc>
              <a:spcAft>
                <a:spcPts val="600"/>
              </a:spcAft>
            </a:pPr>
            <a:r>
              <a:rPr sz="1550" b="1">
                <a:solidFill>
                  <a:srgbClr val="12191D"/>
                </a:solidFill>
                <a:latin typeface="Segoe UI"/>
              </a:rPr>
              <a:t>LoRA cộng thêm ΔW = BA, tốn r(n+m) tham số — </a:t>
            </a:r>
            <a:r>
              <a:rPr sz="1550" b="0">
                <a:solidFill>
                  <a:srgbClr val="54636C"/>
                </a:solidFill>
                <a:latin typeface="Segoe UI"/>
              </a:rPr>
              <a:t>tỉ lệ với cả hai chiều của lớp mà nó adapt.</a:t>
            </a:r>
          </a:p>
        </p:txBody>
      </p:sp>
      <p:sp>
        <p:nvSpPr>
          <p:cNvPr id="8" name="TextBox 7"/>
          <p:cNvSpPr txBox="1"/>
          <p:nvPr/>
        </p:nvSpPr>
        <p:spPr>
          <a:xfrm>
            <a:off x="685800" y="2807208"/>
            <a:ext cx="274320" cy="274320"/>
          </a:xfrm>
          <a:prstGeom prst="rect">
            <a:avLst/>
          </a:prstGeom>
          <a:noFill/>
        </p:spPr>
        <p:txBody>
          <a:bodyPr wrap="square" lIns="0" rIns="0" tIns="0" bIns="0">
            <a:spAutoFit/>
          </a:bodyPr>
          <a:lstStyle/>
          <a:p>
            <a:pPr algn="l">
              <a:lnSpc>
                <a:spcPct val="125000"/>
              </a:lnSpc>
              <a:spcAft>
                <a:spcPts val="600"/>
              </a:spcAft>
            </a:pPr>
            <a:r>
              <a:rPr sz="1550" b="0">
                <a:solidFill>
                  <a:srgbClr val="0D6F68"/>
                </a:solidFill>
                <a:latin typeface="Consolas"/>
              </a:rPr>
              <a:t>—</a:t>
            </a:r>
          </a:p>
        </p:txBody>
      </p:sp>
      <p:sp>
        <p:nvSpPr>
          <p:cNvPr id="9" name="TextBox 8"/>
          <p:cNvSpPr txBox="1"/>
          <p:nvPr/>
        </p:nvSpPr>
        <p:spPr>
          <a:xfrm>
            <a:off x="1069848" y="2807208"/>
            <a:ext cx="10497312" cy="786384"/>
          </a:xfrm>
          <a:prstGeom prst="rect">
            <a:avLst/>
          </a:prstGeom>
          <a:noFill/>
        </p:spPr>
        <p:txBody>
          <a:bodyPr wrap="square" lIns="0" rIns="0" tIns="0" bIns="0">
            <a:spAutoFit/>
          </a:bodyPr>
          <a:lstStyle/>
          <a:p>
            <a:pPr algn="l">
              <a:lnSpc>
                <a:spcPct val="122000"/>
              </a:lnSpc>
              <a:spcAft>
                <a:spcPts val="600"/>
              </a:spcAft>
            </a:pPr>
            <a:r>
              <a:rPr sz="1550" b="1">
                <a:solidFill>
                  <a:srgbClr val="12191D"/>
                </a:solidFill>
                <a:latin typeface="Segoe UI"/>
              </a:rPr>
              <a:t>Kiến trúc hiện đại đầy ma trận lệch. </a:t>
            </a:r>
            <a:r>
              <a:rPr sz="1550" b="0">
                <a:solidFill>
                  <a:srgbClr val="54636C"/>
                </a:solidFill>
                <a:latin typeface="Segoe UI"/>
              </a:rPr>
              <a:t>Grouped-query attention nén k/v: Qwen2.5-1.5B có k_proj 256×1536, tỉ lệ khung hình a = 6; Falcon-7B lên tới a = 71.</a:t>
            </a:r>
          </a:p>
        </p:txBody>
      </p:sp>
      <p:sp>
        <p:nvSpPr>
          <p:cNvPr id="10" name="TextBox 9"/>
          <p:cNvSpPr txBox="1"/>
          <p:nvPr/>
        </p:nvSpPr>
        <p:spPr>
          <a:xfrm>
            <a:off x="685800" y="3593591"/>
            <a:ext cx="274320" cy="274320"/>
          </a:xfrm>
          <a:prstGeom prst="rect">
            <a:avLst/>
          </a:prstGeom>
          <a:noFill/>
        </p:spPr>
        <p:txBody>
          <a:bodyPr wrap="square" lIns="0" rIns="0" tIns="0" bIns="0">
            <a:spAutoFit/>
          </a:bodyPr>
          <a:lstStyle/>
          <a:p>
            <a:pPr algn="l">
              <a:lnSpc>
                <a:spcPct val="125000"/>
              </a:lnSpc>
              <a:spcAft>
                <a:spcPts val="600"/>
              </a:spcAft>
            </a:pPr>
            <a:r>
              <a:rPr sz="1550" b="0">
                <a:solidFill>
                  <a:srgbClr val="0D6F68"/>
                </a:solidFill>
                <a:latin typeface="Consolas"/>
              </a:rPr>
              <a:t>—</a:t>
            </a:r>
          </a:p>
        </p:txBody>
      </p:sp>
      <p:sp>
        <p:nvSpPr>
          <p:cNvPr id="11" name="TextBox 10"/>
          <p:cNvSpPr txBox="1"/>
          <p:nvPr/>
        </p:nvSpPr>
        <p:spPr>
          <a:xfrm>
            <a:off x="1069848" y="3593591"/>
            <a:ext cx="10497312" cy="786384"/>
          </a:xfrm>
          <a:prstGeom prst="rect">
            <a:avLst/>
          </a:prstGeom>
          <a:noFill/>
        </p:spPr>
        <p:txBody>
          <a:bodyPr wrap="square" lIns="0" rIns="0" tIns="0" bIns="0">
            <a:spAutoFit/>
          </a:bodyPr>
          <a:lstStyle/>
          <a:p>
            <a:pPr algn="l">
              <a:lnSpc>
                <a:spcPct val="122000"/>
              </a:lnSpc>
              <a:spcAft>
                <a:spcPts val="600"/>
              </a:spcAft>
            </a:pPr>
            <a:r>
              <a:rPr sz="1550" b="1">
                <a:solidFill>
                  <a:srgbClr val="12191D"/>
                </a:solidFill>
                <a:latin typeface="Segoe UI"/>
              </a:rPr>
              <a:t>Trả tiền cho chiều dài là trả cho capacity lớp không có. </a:t>
            </a:r>
            <a:r>
              <a:rPr sz="1550" b="0">
                <a:solidFill>
                  <a:srgbClr val="54636C"/>
                </a:solidFill>
                <a:latin typeface="Segoe UI"/>
              </a:rPr>
              <a:t>Với a = 6, ba phần tư ngân sách adapter đổ vào chiều 1536.</a:t>
            </a:r>
          </a:p>
        </p:txBody>
      </p:sp>
      <p:sp>
        <p:nvSpPr>
          <p:cNvPr id="12" name="TextBox 11"/>
          <p:cNvSpPr txBox="1"/>
          <p:nvPr/>
        </p:nvSpPr>
        <p:spPr>
          <a:xfrm>
            <a:off x="685800" y="4379976"/>
            <a:ext cx="274320" cy="274320"/>
          </a:xfrm>
          <a:prstGeom prst="rect">
            <a:avLst/>
          </a:prstGeom>
          <a:noFill/>
        </p:spPr>
        <p:txBody>
          <a:bodyPr wrap="square" lIns="0" rIns="0" tIns="0" bIns="0">
            <a:spAutoFit/>
          </a:bodyPr>
          <a:lstStyle/>
          <a:p>
            <a:pPr algn="l">
              <a:lnSpc>
                <a:spcPct val="125000"/>
              </a:lnSpc>
              <a:spcAft>
                <a:spcPts val="600"/>
              </a:spcAft>
            </a:pPr>
            <a:r>
              <a:rPr sz="1550" b="0">
                <a:solidFill>
                  <a:srgbClr val="0D6F68"/>
                </a:solidFill>
                <a:latin typeface="Consolas"/>
              </a:rPr>
              <a:t>—</a:t>
            </a:r>
          </a:p>
        </p:txBody>
      </p:sp>
      <p:sp>
        <p:nvSpPr>
          <p:cNvPr id="13" name="TextBox 12"/>
          <p:cNvSpPr txBox="1"/>
          <p:nvPr/>
        </p:nvSpPr>
        <p:spPr>
          <a:xfrm>
            <a:off x="1069848" y="4379976"/>
            <a:ext cx="10497312" cy="786384"/>
          </a:xfrm>
          <a:prstGeom prst="rect">
            <a:avLst/>
          </a:prstGeom>
          <a:noFill/>
        </p:spPr>
        <p:txBody>
          <a:bodyPr wrap="square" lIns="0" rIns="0" tIns="0" bIns="0">
            <a:spAutoFit/>
          </a:bodyPr>
          <a:lstStyle/>
          <a:p>
            <a:pPr algn="l">
              <a:lnSpc>
                <a:spcPct val="122000"/>
              </a:lnSpc>
              <a:spcAft>
                <a:spcPts val="600"/>
              </a:spcAft>
            </a:pPr>
            <a:r>
              <a:rPr sz="1550" b="1">
                <a:solidFill>
                  <a:srgbClr val="12191D"/>
                </a:solidFill>
                <a:latin typeface="Segoe UI"/>
              </a:rPr>
              <a:t>Thu nhỏ đối tượng được adapt thì vướng chuyện khác: </a:t>
            </a:r>
            <a:r>
              <a:rPr sz="1550" b="0">
                <a:solidFill>
                  <a:srgbClr val="54636C"/>
                </a:solidFill>
                <a:latin typeface="Segoe UI"/>
              </a:rPr>
              <a:t>nó phải còn mang thông tin pretrained, nếu không thì DoRA, PiSSA — những phương pháp khai thác cấu trúc pretrained — không có gì để bám vào.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515600" cy="274320"/>
          </a:xfrm>
          <a:prstGeom prst="rect">
            <a:avLst/>
          </a:prstGeom>
          <a:noFill/>
        </p:spPr>
        <p:txBody>
          <a:bodyPr wrap="square" lIns="0" rIns="0" tIns="0" bIns="0">
            <a:spAutoFit/>
          </a:bodyPr>
          <a:lstStyle/>
          <a:p>
            <a:pPr algn="l">
              <a:lnSpc>
                <a:spcPct val="125000"/>
              </a:lnSpc>
              <a:spcAft>
                <a:spcPts val="600"/>
              </a:spcAft>
            </a:pPr>
            <a:r>
              <a:rPr sz="1050" b="1">
                <a:solidFill>
                  <a:srgbClr val="0D6F68"/>
                </a:solidFill>
                <a:latin typeface="Consolas"/>
              </a:rPr>
              <a:t>Ý TƯỞNG</a:t>
            </a:r>
          </a:p>
        </p:txBody>
      </p:sp>
      <p:sp>
        <p:nvSpPr>
          <p:cNvPr id="4" name="TextBox 3"/>
          <p:cNvSpPr txBox="1"/>
          <p:nvPr/>
        </p:nvSpPr>
        <p:spPr>
          <a:xfrm>
            <a:off x="685800" y="777240"/>
            <a:ext cx="10881360" cy="731520"/>
          </a:xfrm>
          <a:prstGeom prst="rect">
            <a:avLst/>
          </a:prstGeom>
          <a:noFill/>
        </p:spPr>
        <p:txBody>
          <a:bodyPr wrap="square" lIns="0" rIns="0" tIns="0" bIns="0">
            <a:spAutoFit/>
          </a:bodyPr>
          <a:lstStyle/>
          <a:p>
            <a:pPr algn="l">
              <a:lnSpc>
                <a:spcPct val="105000"/>
              </a:lnSpc>
              <a:spcAft>
                <a:spcPts val="600"/>
              </a:spcAft>
            </a:pPr>
            <a:r>
              <a:rPr sz="3000" b="0">
                <a:solidFill>
                  <a:srgbClr val="12191D"/>
                </a:solidFill>
                <a:latin typeface="Georgia"/>
              </a:rPr>
              <a:t>Không cộng thêm — viết lại lớp</a:t>
            </a:r>
          </a:p>
        </p:txBody>
      </p:sp>
      <p:sp>
        <p:nvSpPr>
          <p:cNvPr id="5" name="TextBox 4"/>
          <p:cNvSpPr txBox="1"/>
          <p:nvPr/>
        </p:nvSpPr>
        <p:spPr>
          <a:xfrm>
            <a:off x="685800" y="1572768"/>
            <a:ext cx="10881360" cy="365760"/>
          </a:xfrm>
          <a:prstGeom prst="rect">
            <a:avLst/>
          </a:prstGeom>
          <a:noFill/>
        </p:spPr>
        <p:txBody>
          <a:bodyPr wrap="square" lIns="0" rIns="0" tIns="0" bIns="0">
            <a:spAutoFit/>
          </a:bodyPr>
          <a:lstStyle/>
          <a:p>
            <a:pPr algn="l">
              <a:lnSpc>
                <a:spcPct val="125000"/>
              </a:lnSpc>
              <a:spcAft>
                <a:spcPts val="600"/>
              </a:spcAft>
            </a:pPr>
            <a:r>
              <a:rPr sz="1350" b="0">
                <a:solidFill>
                  <a:srgbClr val="54636C"/>
                </a:solidFill>
                <a:latin typeface="Segoe UI"/>
              </a:rPr>
              <a:t>Một phép phân rã chính xác, không xấp xỉ, không mất mát.</a:t>
            </a:r>
          </a:p>
        </p:txBody>
      </p:sp>
      <p:sp>
        <p:nvSpPr>
          <p:cNvPr id="6" name="Rectangle 5"/>
          <p:cNvSpPr/>
          <p:nvPr/>
        </p:nvSpPr>
        <p:spPr>
          <a:xfrm>
            <a:off x="685800" y="2084831"/>
            <a:ext cx="10817352" cy="1097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523744"/>
            <a:ext cx="3310128" cy="45720"/>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752344"/>
            <a:ext cx="3291840" cy="457200"/>
          </a:xfrm>
          <a:prstGeom prst="rect">
            <a:avLst/>
          </a:prstGeom>
          <a:noFill/>
        </p:spPr>
        <p:txBody>
          <a:bodyPr wrap="square" lIns="0" rIns="0" tIns="0" bIns="0">
            <a:spAutoFit/>
          </a:bodyPr>
          <a:lstStyle/>
          <a:p>
            <a:pPr algn="l">
              <a:lnSpc>
                <a:spcPct val="125000"/>
              </a:lnSpc>
              <a:spcAft>
                <a:spcPts val="600"/>
              </a:spcAft>
            </a:pPr>
            <a:r>
              <a:rPr sz="3200" b="0">
                <a:solidFill>
                  <a:srgbClr val="0D6F68"/>
                </a:solidFill>
                <a:latin typeface="Georgia"/>
              </a:rPr>
              <a:t>1</a:t>
            </a:r>
          </a:p>
        </p:txBody>
      </p:sp>
      <p:sp>
        <p:nvSpPr>
          <p:cNvPr id="9" name="TextBox 8"/>
          <p:cNvSpPr txBox="1"/>
          <p:nvPr/>
        </p:nvSpPr>
        <p:spPr>
          <a:xfrm>
            <a:off x="685800" y="3364991"/>
            <a:ext cx="3291840" cy="365760"/>
          </a:xfrm>
          <a:prstGeom prst="rect">
            <a:avLst/>
          </a:prstGeom>
          <a:noFill/>
        </p:spPr>
        <p:txBody>
          <a:bodyPr wrap="square" lIns="0" rIns="0" tIns="0" bIns="0">
            <a:spAutoFit/>
          </a:bodyPr>
          <a:lstStyle/>
          <a:p>
            <a:pPr algn="l">
              <a:lnSpc>
                <a:spcPct val="125000"/>
              </a:lnSpc>
              <a:spcAft>
                <a:spcPts val="600"/>
              </a:spcAft>
            </a:pPr>
            <a:r>
              <a:rPr sz="1900" b="0">
                <a:solidFill>
                  <a:srgbClr val="12191D"/>
                </a:solidFill>
                <a:latin typeface="Georgia"/>
              </a:rPr>
              <a:t>Tách khối</a:t>
            </a:r>
          </a:p>
        </p:txBody>
      </p:sp>
      <p:sp>
        <p:nvSpPr>
          <p:cNvPr id="10" name="TextBox 9"/>
          <p:cNvSpPr txBox="1"/>
          <p:nvPr/>
        </p:nvSpPr>
        <p:spPr>
          <a:xfrm>
            <a:off x="685800" y="3822191"/>
            <a:ext cx="3291840" cy="1645920"/>
          </a:xfrm>
          <a:prstGeom prst="rect">
            <a:avLst/>
          </a:prstGeom>
          <a:noFill/>
        </p:spPr>
        <p:txBody>
          <a:bodyPr wrap="square" lIns="0" rIns="0" tIns="0" bIns="0">
            <a:spAutoFit/>
          </a:bodyPr>
          <a:lstStyle/>
          <a:p>
            <a:pPr algn="l">
              <a:lnSpc>
                <a:spcPct val="130000"/>
              </a:lnSpc>
              <a:spcAft>
                <a:spcPts val="600"/>
              </a:spcAft>
            </a:pPr>
            <a:r>
              <a:rPr sz="1350" b="0">
                <a:solidFill>
                  <a:srgbClr val="54636C"/>
                </a:solidFill>
                <a:latin typeface="Segoe UI"/>
              </a:rPr>
              <a:t>Cắt W thành khối chữ nhật W₁ và khối vuông W₂ (k×k, k = min(n,m)).</a:t>
            </a:r>
          </a:p>
        </p:txBody>
      </p:sp>
      <p:sp>
        <p:nvSpPr>
          <p:cNvPr id="11" name="Rectangle 10"/>
          <p:cNvSpPr/>
          <p:nvPr/>
        </p:nvSpPr>
        <p:spPr>
          <a:xfrm>
            <a:off x="4361688" y="2523744"/>
            <a:ext cx="3310128" cy="45720"/>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61688" y="2752344"/>
            <a:ext cx="3291840" cy="457200"/>
          </a:xfrm>
          <a:prstGeom prst="rect">
            <a:avLst/>
          </a:prstGeom>
          <a:noFill/>
        </p:spPr>
        <p:txBody>
          <a:bodyPr wrap="square" lIns="0" rIns="0" tIns="0" bIns="0">
            <a:spAutoFit/>
          </a:bodyPr>
          <a:lstStyle/>
          <a:p>
            <a:pPr algn="l">
              <a:lnSpc>
                <a:spcPct val="125000"/>
              </a:lnSpc>
              <a:spcAft>
                <a:spcPts val="600"/>
              </a:spcAft>
            </a:pPr>
            <a:r>
              <a:rPr sz="3200" b="0">
                <a:solidFill>
                  <a:srgbClr val="0D6F68"/>
                </a:solidFill>
                <a:latin typeface="Georgia"/>
              </a:rPr>
              <a:t>2</a:t>
            </a:r>
          </a:p>
        </p:txBody>
      </p:sp>
      <p:sp>
        <p:nvSpPr>
          <p:cNvPr id="13" name="TextBox 12"/>
          <p:cNvSpPr txBox="1"/>
          <p:nvPr/>
        </p:nvSpPr>
        <p:spPr>
          <a:xfrm>
            <a:off x="4361688" y="3364991"/>
            <a:ext cx="3291840" cy="365760"/>
          </a:xfrm>
          <a:prstGeom prst="rect">
            <a:avLst/>
          </a:prstGeom>
          <a:noFill/>
        </p:spPr>
        <p:txBody>
          <a:bodyPr wrap="square" lIns="0" rIns="0" tIns="0" bIns="0">
            <a:spAutoFit/>
          </a:bodyPr>
          <a:lstStyle/>
          <a:p>
            <a:pPr algn="l">
              <a:lnSpc>
                <a:spcPct val="125000"/>
              </a:lnSpc>
              <a:spcAft>
                <a:spcPts val="600"/>
              </a:spcAft>
            </a:pPr>
            <a:r>
              <a:rPr sz="1900" b="0">
                <a:solidFill>
                  <a:srgbClr val="12191D"/>
                </a:solidFill>
                <a:latin typeface="Georgia"/>
              </a:rPr>
              <a:t>Giải</a:t>
            </a:r>
          </a:p>
        </p:txBody>
      </p:sp>
      <p:sp>
        <p:nvSpPr>
          <p:cNvPr id="14" name="TextBox 13"/>
          <p:cNvSpPr txBox="1"/>
          <p:nvPr/>
        </p:nvSpPr>
        <p:spPr>
          <a:xfrm>
            <a:off x="4361688" y="3822191"/>
            <a:ext cx="3291840" cy="1645920"/>
          </a:xfrm>
          <a:prstGeom prst="rect">
            <a:avLst/>
          </a:prstGeom>
          <a:noFill/>
        </p:spPr>
        <p:txBody>
          <a:bodyPr wrap="square" lIns="0" rIns="0" tIns="0" bIns="0">
            <a:spAutoFit/>
          </a:bodyPr>
          <a:lstStyle/>
          <a:p>
            <a:pPr algn="l">
              <a:lnSpc>
                <a:spcPct val="130000"/>
              </a:lnSpc>
              <a:spcAft>
                <a:spcPts val="600"/>
              </a:spcAft>
            </a:pPr>
            <a:r>
              <a:rPr sz="1350" b="0">
                <a:solidFill>
                  <a:srgbClr val="54636C"/>
                </a:solidFill>
                <a:latin typeface="Segoe UI"/>
              </a:rPr>
              <a:t>Khối chữ nhật được xác định hoàn toàn bởi khối vuông: giải W₂·W̄ = W₁ ra W̄ = W₂⁻¹W₁.</a:t>
            </a:r>
          </a:p>
        </p:txBody>
      </p:sp>
      <p:sp>
        <p:nvSpPr>
          <p:cNvPr id="15" name="Rectangle 14"/>
          <p:cNvSpPr/>
          <p:nvPr/>
        </p:nvSpPr>
        <p:spPr>
          <a:xfrm>
            <a:off x="8037575" y="2523744"/>
            <a:ext cx="3310128" cy="45720"/>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37575" y="2752344"/>
            <a:ext cx="3291840" cy="457200"/>
          </a:xfrm>
          <a:prstGeom prst="rect">
            <a:avLst/>
          </a:prstGeom>
          <a:noFill/>
        </p:spPr>
        <p:txBody>
          <a:bodyPr wrap="square" lIns="0" rIns="0" tIns="0" bIns="0">
            <a:spAutoFit/>
          </a:bodyPr>
          <a:lstStyle/>
          <a:p>
            <a:pPr algn="l">
              <a:lnSpc>
                <a:spcPct val="125000"/>
              </a:lnSpc>
              <a:spcAft>
                <a:spcPts val="600"/>
              </a:spcAft>
            </a:pPr>
            <a:r>
              <a:rPr sz="3200" b="0">
                <a:solidFill>
                  <a:srgbClr val="0D6F68"/>
                </a:solidFill>
                <a:latin typeface="Georgia"/>
              </a:rPr>
              <a:t>3</a:t>
            </a:r>
          </a:p>
        </p:txBody>
      </p:sp>
      <p:sp>
        <p:nvSpPr>
          <p:cNvPr id="17" name="TextBox 16"/>
          <p:cNvSpPr txBox="1"/>
          <p:nvPr/>
        </p:nvSpPr>
        <p:spPr>
          <a:xfrm>
            <a:off x="8037575" y="3364991"/>
            <a:ext cx="3291840" cy="365760"/>
          </a:xfrm>
          <a:prstGeom prst="rect">
            <a:avLst/>
          </a:prstGeom>
          <a:noFill/>
        </p:spPr>
        <p:txBody>
          <a:bodyPr wrap="square" lIns="0" rIns="0" tIns="0" bIns="0">
            <a:spAutoFit/>
          </a:bodyPr>
          <a:lstStyle/>
          <a:p>
            <a:pPr algn="l">
              <a:lnSpc>
                <a:spcPct val="125000"/>
              </a:lnSpc>
              <a:spcAft>
                <a:spcPts val="600"/>
              </a:spcAft>
            </a:pPr>
            <a:r>
              <a:rPr sz="1900" b="0">
                <a:solidFill>
                  <a:srgbClr val="12191D"/>
                </a:solidFill>
                <a:latin typeface="Georgia"/>
              </a:rPr>
              <a:t>Nhân tử</a:t>
            </a:r>
          </a:p>
        </p:txBody>
      </p:sp>
      <p:sp>
        <p:nvSpPr>
          <p:cNvPr id="18" name="TextBox 17"/>
          <p:cNvSpPr txBox="1"/>
          <p:nvPr/>
        </p:nvSpPr>
        <p:spPr>
          <a:xfrm>
            <a:off x="8037575" y="3822191"/>
            <a:ext cx="3291840" cy="1645920"/>
          </a:xfrm>
          <a:prstGeom prst="rect">
            <a:avLst/>
          </a:prstGeom>
          <a:noFill/>
        </p:spPr>
        <p:txBody>
          <a:bodyPr wrap="square" lIns="0" rIns="0" tIns="0" bIns="0">
            <a:spAutoFit/>
          </a:bodyPr>
          <a:lstStyle/>
          <a:p>
            <a:pPr algn="l">
              <a:lnSpc>
                <a:spcPct val="130000"/>
              </a:lnSpc>
              <a:spcAft>
                <a:spcPts val="600"/>
              </a:spcAft>
            </a:pPr>
            <a:r>
              <a:rPr sz="1350" b="0">
                <a:solidFill>
                  <a:srgbClr val="54636C"/>
                </a:solidFill>
                <a:latin typeface="Segoe UI"/>
              </a:rPr>
              <a:t>Lớp trở thành (ma trận vuông) × (phần cố định có khối identity). Đóng băng W̄, chỉ train W₂.</a:t>
            </a:r>
          </a:p>
        </p:txBody>
      </p:sp>
      <p:sp>
        <p:nvSpPr>
          <p:cNvPr id="19" name="TextBox 18"/>
          <p:cNvSpPr txBox="1"/>
          <p:nvPr/>
        </p:nvSpPr>
        <p:spPr>
          <a:xfrm>
            <a:off x="685800" y="5404104"/>
            <a:ext cx="10881360" cy="457200"/>
          </a:xfrm>
          <a:prstGeom prst="rect">
            <a:avLst/>
          </a:prstGeom>
          <a:noFill/>
        </p:spPr>
        <p:txBody>
          <a:bodyPr wrap="square" lIns="0" rIns="0" tIns="0" bIns="0">
            <a:spAutoFit/>
          </a:bodyPr>
          <a:lstStyle/>
          <a:p>
            <a:pPr algn="l">
              <a:lnSpc>
                <a:spcPct val="125000"/>
              </a:lnSpc>
              <a:spcAft>
                <a:spcPts val="600"/>
              </a:spcAft>
            </a:pPr>
            <a:r>
              <a:rPr sz="1450" b="1">
                <a:solidFill>
                  <a:srgbClr val="12191D"/>
                </a:solidFill>
                <a:latin typeface="Segoe UI"/>
              </a:rPr>
              <a:t>Kết quả: </a:t>
            </a:r>
            <a:r>
              <a:rPr sz="1450" b="0">
                <a:solidFill>
                  <a:srgbClr val="54636C"/>
                </a:solidFill>
                <a:latin typeface="Segoe UI"/>
              </a:rPr>
              <a:t>đối tượng được train là một ma trận vuông k×k vẫn mang giá trị pretrained — nên cả bộ công cụ adapter vẫn dùng được trên nó, mà rẻ hơn theo hệ số (1+a)/2.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515600" cy="274320"/>
          </a:xfrm>
          <a:prstGeom prst="rect">
            <a:avLst/>
          </a:prstGeom>
          <a:noFill/>
        </p:spPr>
        <p:txBody>
          <a:bodyPr wrap="square" lIns="0" rIns="0" tIns="0" bIns="0">
            <a:spAutoFit/>
          </a:bodyPr>
          <a:lstStyle/>
          <a:p>
            <a:pPr algn="l">
              <a:lnSpc>
                <a:spcPct val="125000"/>
              </a:lnSpc>
              <a:spcAft>
                <a:spcPts val="600"/>
              </a:spcAft>
            </a:pPr>
            <a:r>
              <a:rPr sz="1050" b="1">
                <a:solidFill>
                  <a:srgbClr val="0D6F68"/>
                </a:solidFill>
                <a:latin typeface="Consolas"/>
              </a:rPr>
              <a:t>PHƯƠNG PHÁP</a:t>
            </a:r>
          </a:p>
        </p:txBody>
      </p:sp>
      <p:sp>
        <p:nvSpPr>
          <p:cNvPr id="4" name="TextBox 3"/>
          <p:cNvSpPr txBox="1"/>
          <p:nvPr/>
        </p:nvSpPr>
        <p:spPr>
          <a:xfrm>
            <a:off x="685800" y="777240"/>
            <a:ext cx="10881360" cy="731520"/>
          </a:xfrm>
          <a:prstGeom prst="rect">
            <a:avLst/>
          </a:prstGeom>
          <a:noFill/>
        </p:spPr>
        <p:txBody>
          <a:bodyPr wrap="square" lIns="0" rIns="0" tIns="0" bIns="0">
            <a:spAutoFit/>
          </a:bodyPr>
          <a:lstStyle/>
          <a:p>
            <a:pPr algn="l">
              <a:lnSpc>
                <a:spcPct val="105000"/>
              </a:lnSpc>
              <a:spcAft>
                <a:spcPts val="600"/>
              </a:spcAft>
            </a:pPr>
            <a:r>
              <a:rPr sz="3000" b="0">
                <a:solidFill>
                  <a:srgbClr val="12191D"/>
                </a:solidFill>
                <a:latin typeface="Georgia"/>
              </a:rPr>
              <a:t>Hai trường hợp: tách cột và tách hàng</a:t>
            </a:r>
          </a:p>
        </p:txBody>
      </p:sp>
      <p:sp>
        <p:nvSpPr>
          <p:cNvPr id="5" name="Rectangle 4"/>
          <p:cNvSpPr/>
          <p:nvPr/>
        </p:nvSpPr>
        <p:spPr>
          <a:xfrm>
            <a:off x="685800" y="1627632"/>
            <a:ext cx="10817352" cy="1097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orientations.png"/>
          <p:cNvPicPr>
            <a:picLocks noChangeAspect="1"/>
          </p:cNvPicPr>
          <p:nvPr/>
        </p:nvPicPr>
        <p:blipFill>
          <a:blip r:embed="rId2"/>
          <a:stretch>
            <a:fillRect/>
          </a:stretch>
        </p:blipFill>
        <p:spPr>
          <a:xfrm>
            <a:off x="2331720" y="1901952"/>
            <a:ext cx="5683209" cy="46634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515600" cy="274320"/>
          </a:xfrm>
          <a:prstGeom prst="rect">
            <a:avLst/>
          </a:prstGeom>
          <a:noFill/>
        </p:spPr>
        <p:txBody>
          <a:bodyPr wrap="square" lIns="0" rIns="0" tIns="0" bIns="0">
            <a:spAutoFit/>
          </a:bodyPr>
          <a:lstStyle/>
          <a:p>
            <a:pPr algn="l">
              <a:lnSpc>
                <a:spcPct val="125000"/>
              </a:lnSpc>
              <a:spcAft>
                <a:spcPts val="600"/>
              </a:spcAft>
            </a:pPr>
            <a:r>
              <a:rPr sz="1050" b="1">
                <a:solidFill>
                  <a:srgbClr val="0D6F68"/>
                </a:solidFill>
                <a:latin typeface="Consolas"/>
              </a:rPr>
              <a:t>PHƯƠNG PHÁP</a:t>
            </a:r>
          </a:p>
        </p:txBody>
      </p:sp>
      <p:sp>
        <p:nvSpPr>
          <p:cNvPr id="4" name="TextBox 3"/>
          <p:cNvSpPr txBox="1"/>
          <p:nvPr/>
        </p:nvSpPr>
        <p:spPr>
          <a:xfrm>
            <a:off x="685800" y="777240"/>
            <a:ext cx="10881360" cy="731520"/>
          </a:xfrm>
          <a:prstGeom prst="rect">
            <a:avLst/>
          </a:prstGeom>
          <a:noFill/>
        </p:spPr>
        <p:txBody>
          <a:bodyPr wrap="square" lIns="0" rIns="0" tIns="0" bIns="0">
            <a:spAutoFit/>
          </a:bodyPr>
          <a:lstStyle/>
          <a:p>
            <a:pPr algn="l">
              <a:lnSpc>
                <a:spcPct val="105000"/>
              </a:lnSpc>
              <a:spcAft>
                <a:spcPts val="600"/>
              </a:spcAft>
            </a:pPr>
            <a:r>
              <a:rPr sz="3000" b="0">
                <a:solidFill>
                  <a:srgbClr val="12191D"/>
                </a:solidFill>
                <a:latin typeface="Georgia"/>
              </a:rPr>
              <a:t>Công thức</a:t>
            </a:r>
          </a:p>
        </p:txBody>
      </p:sp>
      <p:sp>
        <p:nvSpPr>
          <p:cNvPr id="5" name="TextBox 4"/>
          <p:cNvSpPr txBox="1"/>
          <p:nvPr/>
        </p:nvSpPr>
        <p:spPr>
          <a:xfrm>
            <a:off x="685800" y="1572768"/>
            <a:ext cx="10881360" cy="365760"/>
          </a:xfrm>
          <a:prstGeom prst="rect">
            <a:avLst/>
          </a:prstGeom>
          <a:noFill/>
        </p:spPr>
        <p:txBody>
          <a:bodyPr wrap="square" lIns="0" rIns="0" tIns="0" bIns="0">
            <a:spAutoFit/>
          </a:bodyPr>
          <a:lstStyle/>
          <a:p>
            <a:pPr algn="l">
              <a:lnSpc>
                <a:spcPct val="125000"/>
              </a:lnSpc>
              <a:spcAft>
                <a:spcPts val="600"/>
              </a:spcAft>
            </a:pPr>
            <a:r>
              <a:rPr sz="1350" b="0">
                <a:solidFill>
                  <a:srgbClr val="54636C"/>
                </a:solidFill>
                <a:latin typeface="Segoe UI"/>
              </a:rPr>
              <a:t>W x = y  với  W: n×m,  x: m×1,  y: n×1.</a:t>
            </a:r>
          </a:p>
        </p:txBody>
      </p:sp>
      <p:sp>
        <p:nvSpPr>
          <p:cNvPr id="6" name="Rectangle 5"/>
          <p:cNvSpPr/>
          <p:nvPr/>
        </p:nvSpPr>
        <p:spPr>
          <a:xfrm>
            <a:off x="685800" y="2084831"/>
            <a:ext cx="10817352" cy="1097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432303"/>
            <a:ext cx="5257800" cy="45720"/>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633471"/>
            <a:ext cx="5212080" cy="365760"/>
          </a:xfrm>
          <a:prstGeom prst="rect">
            <a:avLst/>
          </a:prstGeom>
          <a:noFill/>
        </p:spPr>
        <p:txBody>
          <a:bodyPr wrap="square" lIns="0" rIns="0" tIns="0" bIns="0">
            <a:spAutoFit/>
          </a:bodyPr>
          <a:lstStyle/>
          <a:p>
            <a:pPr algn="l">
              <a:lnSpc>
                <a:spcPct val="125000"/>
              </a:lnSpc>
              <a:spcAft>
                <a:spcPts val="600"/>
              </a:spcAft>
            </a:pPr>
            <a:r>
              <a:rPr sz="1500" b="0">
                <a:solidFill>
                  <a:srgbClr val="12191D"/>
                </a:solidFill>
                <a:latin typeface="Georgia"/>
              </a:rPr>
              <a:t>m &gt; n   ·   tách cột,  W₂ vuông n×n</a:t>
            </a:r>
          </a:p>
        </p:txBody>
      </p:sp>
      <p:pic>
        <p:nvPicPr>
          <p:cNvPr id="9" name="Picture 8" descr="eq00.png"/>
          <p:cNvPicPr>
            <a:picLocks noChangeAspect="1"/>
          </p:cNvPicPr>
          <p:nvPr/>
        </p:nvPicPr>
        <p:blipFill>
          <a:blip r:embed="rId2"/>
          <a:stretch>
            <a:fillRect/>
          </a:stretch>
        </p:blipFill>
        <p:spPr>
          <a:xfrm>
            <a:off x="685800" y="3182111"/>
            <a:ext cx="3243072" cy="256032"/>
          </a:xfrm>
          <a:prstGeom prst="rect">
            <a:avLst/>
          </a:prstGeom>
        </p:spPr>
      </p:pic>
      <p:pic>
        <p:nvPicPr>
          <p:cNvPr id="10" name="Picture 9" descr="eq01.png"/>
          <p:cNvPicPr>
            <a:picLocks noChangeAspect="1"/>
          </p:cNvPicPr>
          <p:nvPr/>
        </p:nvPicPr>
        <p:blipFill>
          <a:blip r:embed="rId3"/>
          <a:stretch>
            <a:fillRect/>
          </a:stretch>
        </p:blipFill>
        <p:spPr>
          <a:xfrm>
            <a:off x="685800" y="3968496"/>
            <a:ext cx="2710074" cy="310896"/>
          </a:xfrm>
          <a:prstGeom prst="rect">
            <a:avLst/>
          </a:prstGeom>
        </p:spPr>
      </p:pic>
      <p:pic>
        <p:nvPicPr>
          <p:cNvPr id="11" name="Picture 10" descr="eq02.png"/>
          <p:cNvPicPr>
            <a:picLocks noChangeAspect="1"/>
          </p:cNvPicPr>
          <p:nvPr/>
        </p:nvPicPr>
        <p:blipFill>
          <a:blip r:embed="rId4"/>
          <a:stretch>
            <a:fillRect/>
          </a:stretch>
        </p:blipFill>
        <p:spPr>
          <a:xfrm>
            <a:off x="685800" y="4754879"/>
            <a:ext cx="3825240" cy="301752"/>
          </a:xfrm>
          <a:prstGeom prst="rect">
            <a:avLst/>
          </a:prstGeom>
        </p:spPr>
      </p:pic>
      <p:pic>
        <p:nvPicPr>
          <p:cNvPr id="12" name="Picture 11" descr="eq03.png"/>
          <p:cNvPicPr>
            <a:picLocks noChangeAspect="1"/>
          </p:cNvPicPr>
          <p:nvPr/>
        </p:nvPicPr>
        <p:blipFill>
          <a:blip r:embed="rId5"/>
          <a:stretch>
            <a:fillRect/>
          </a:stretch>
        </p:blipFill>
        <p:spPr>
          <a:xfrm>
            <a:off x="685800" y="5541264"/>
            <a:ext cx="2423160" cy="252984"/>
          </a:xfrm>
          <a:prstGeom prst="rect">
            <a:avLst/>
          </a:prstGeom>
        </p:spPr>
      </p:pic>
      <p:sp>
        <p:nvSpPr>
          <p:cNvPr id="13" name="Rectangle 12"/>
          <p:cNvSpPr/>
          <p:nvPr/>
        </p:nvSpPr>
        <p:spPr>
          <a:xfrm>
            <a:off x="6446520" y="2432303"/>
            <a:ext cx="5257800" cy="45720"/>
          </a:xfrm>
          <a:prstGeom prst="rect">
            <a:avLst/>
          </a:prstGeom>
          <a:solidFill>
            <a:srgbClr val="7D8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633471"/>
            <a:ext cx="5212080" cy="365760"/>
          </a:xfrm>
          <a:prstGeom prst="rect">
            <a:avLst/>
          </a:prstGeom>
          <a:noFill/>
        </p:spPr>
        <p:txBody>
          <a:bodyPr wrap="square" lIns="0" rIns="0" tIns="0" bIns="0">
            <a:spAutoFit/>
          </a:bodyPr>
          <a:lstStyle/>
          <a:p>
            <a:pPr algn="l">
              <a:lnSpc>
                <a:spcPct val="125000"/>
              </a:lnSpc>
              <a:spcAft>
                <a:spcPts val="600"/>
              </a:spcAft>
            </a:pPr>
            <a:r>
              <a:rPr sz="1500" b="0">
                <a:solidFill>
                  <a:srgbClr val="12191D"/>
                </a:solidFill>
                <a:latin typeface="Georgia"/>
              </a:rPr>
              <a:t>m &lt; n   ·   tách hàng,  W₂ vuông m×m</a:t>
            </a:r>
          </a:p>
        </p:txBody>
      </p:sp>
      <p:pic>
        <p:nvPicPr>
          <p:cNvPr id="15" name="Picture 14" descr="eq10.png"/>
          <p:cNvPicPr>
            <a:picLocks noChangeAspect="1"/>
          </p:cNvPicPr>
          <p:nvPr/>
        </p:nvPicPr>
        <p:blipFill>
          <a:blip r:embed="rId6"/>
          <a:stretch>
            <a:fillRect/>
          </a:stretch>
        </p:blipFill>
        <p:spPr>
          <a:xfrm>
            <a:off x="6446520" y="3182111"/>
            <a:ext cx="3200400" cy="252984"/>
          </a:xfrm>
          <a:prstGeom prst="rect">
            <a:avLst/>
          </a:prstGeom>
        </p:spPr>
      </p:pic>
      <p:pic>
        <p:nvPicPr>
          <p:cNvPr id="16" name="Picture 15" descr="eq11.png"/>
          <p:cNvPicPr>
            <a:picLocks noChangeAspect="1"/>
          </p:cNvPicPr>
          <p:nvPr/>
        </p:nvPicPr>
        <p:blipFill>
          <a:blip r:embed="rId7"/>
          <a:stretch>
            <a:fillRect/>
          </a:stretch>
        </p:blipFill>
        <p:spPr>
          <a:xfrm>
            <a:off x="6446520" y="3968496"/>
            <a:ext cx="2710074" cy="310896"/>
          </a:xfrm>
          <a:prstGeom prst="rect">
            <a:avLst/>
          </a:prstGeom>
        </p:spPr>
      </p:pic>
      <p:pic>
        <p:nvPicPr>
          <p:cNvPr id="17" name="Picture 16" descr="eq12.png"/>
          <p:cNvPicPr>
            <a:picLocks noChangeAspect="1"/>
          </p:cNvPicPr>
          <p:nvPr/>
        </p:nvPicPr>
        <p:blipFill>
          <a:blip r:embed="rId8"/>
          <a:stretch>
            <a:fillRect/>
          </a:stretch>
        </p:blipFill>
        <p:spPr>
          <a:xfrm>
            <a:off x="6446520" y="4754879"/>
            <a:ext cx="3429000" cy="301752"/>
          </a:xfrm>
          <a:prstGeom prst="rect">
            <a:avLst/>
          </a:prstGeom>
        </p:spPr>
      </p:pic>
      <p:pic>
        <p:nvPicPr>
          <p:cNvPr id="18" name="Picture 17" descr="eq13.png"/>
          <p:cNvPicPr>
            <a:picLocks noChangeAspect="1"/>
          </p:cNvPicPr>
          <p:nvPr/>
        </p:nvPicPr>
        <p:blipFill>
          <a:blip r:embed="rId9"/>
          <a:stretch>
            <a:fillRect/>
          </a:stretch>
        </p:blipFill>
        <p:spPr>
          <a:xfrm>
            <a:off x="6446520" y="5541264"/>
            <a:ext cx="2261616" cy="252984"/>
          </a:xfrm>
          <a:prstGeom prst="rect">
            <a:avLst/>
          </a:prstGeom>
        </p:spPr>
      </p:pic>
      <p:sp>
        <p:nvSpPr>
          <p:cNvPr id="19" name="TextBox 18"/>
          <p:cNvSpPr txBox="1"/>
          <p:nvPr/>
        </p:nvSpPr>
        <p:spPr>
          <a:xfrm>
            <a:off x="685800" y="5952744"/>
            <a:ext cx="10881360" cy="502920"/>
          </a:xfrm>
          <a:prstGeom prst="rect">
            <a:avLst/>
          </a:prstGeom>
          <a:noFill/>
        </p:spPr>
        <p:txBody>
          <a:bodyPr wrap="square" lIns="0" rIns="0" tIns="0" bIns="0">
            <a:spAutoFit/>
          </a:bodyPr>
          <a:lstStyle/>
          <a:p>
            <a:pPr algn="l">
              <a:lnSpc>
                <a:spcPct val="125000"/>
              </a:lnSpc>
              <a:spcAft>
                <a:spcPts val="600"/>
              </a:spcAft>
            </a:pPr>
            <a:r>
              <a:rPr sz="1450" b="1">
                <a:solidFill>
                  <a:srgbClr val="12191D"/>
                </a:solidFill>
                <a:latin typeface="Segoe UI"/>
              </a:rPr>
              <a:t>Cả hai: </a:t>
            </a:r>
            <a:r>
              <a:rPr sz="1450" b="0">
                <a:solidFill>
                  <a:srgbClr val="54636C"/>
                </a:solidFill>
                <a:latin typeface="Segoe UI"/>
              </a:rPr>
              <a:t>đóng băng W̄, chỉ train W₂. Ràng buộc là tính chất của cách tham số hoá, đúng với mọi ΔW₂ — không phụ thuộc optimizer.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515600" cy="274320"/>
          </a:xfrm>
          <a:prstGeom prst="rect">
            <a:avLst/>
          </a:prstGeom>
          <a:noFill/>
        </p:spPr>
        <p:txBody>
          <a:bodyPr wrap="square" lIns="0" rIns="0" tIns="0" bIns="0">
            <a:spAutoFit/>
          </a:bodyPr>
          <a:lstStyle/>
          <a:p>
            <a:pPr algn="l">
              <a:lnSpc>
                <a:spcPct val="125000"/>
              </a:lnSpc>
              <a:spcAft>
                <a:spcPts val="600"/>
              </a:spcAft>
            </a:pPr>
            <a:r>
              <a:rPr sz="1050" b="1">
                <a:solidFill>
                  <a:srgbClr val="0D6F68"/>
                </a:solidFill>
                <a:latin typeface="Consolas"/>
              </a:rPr>
              <a:t>PHƯƠNG PHÁP</a:t>
            </a:r>
          </a:p>
        </p:txBody>
      </p:sp>
      <p:sp>
        <p:nvSpPr>
          <p:cNvPr id="4" name="TextBox 3"/>
          <p:cNvSpPr txBox="1"/>
          <p:nvPr/>
        </p:nvSpPr>
        <p:spPr>
          <a:xfrm>
            <a:off x="685800" y="777240"/>
            <a:ext cx="10881360" cy="731520"/>
          </a:xfrm>
          <a:prstGeom prst="rect">
            <a:avLst/>
          </a:prstGeom>
          <a:noFill/>
        </p:spPr>
        <p:txBody>
          <a:bodyPr wrap="square" lIns="0" rIns="0" tIns="0" bIns="0">
            <a:spAutoFit/>
          </a:bodyPr>
          <a:lstStyle/>
          <a:p>
            <a:pPr algn="l">
              <a:lnSpc>
                <a:spcPct val="105000"/>
              </a:lnSpc>
              <a:spcAft>
                <a:spcPts val="600"/>
              </a:spcAft>
            </a:pPr>
            <a:r>
              <a:rPr sz="3000" b="0">
                <a:solidFill>
                  <a:srgbClr val="12191D"/>
                </a:solidFill>
                <a:latin typeface="Georgia"/>
              </a:rPr>
              <a:t>Bốn thứ không mất gì</a:t>
            </a:r>
          </a:p>
        </p:txBody>
      </p:sp>
      <p:sp>
        <p:nvSpPr>
          <p:cNvPr id="5" name="TextBox 4"/>
          <p:cNvSpPr txBox="1"/>
          <p:nvPr/>
        </p:nvSpPr>
        <p:spPr>
          <a:xfrm>
            <a:off x="685800" y="1572768"/>
            <a:ext cx="10881360" cy="365760"/>
          </a:xfrm>
          <a:prstGeom prst="rect">
            <a:avLst/>
          </a:prstGeom>
          <a:noFill/>
        </p:spPr>
        <p:txBody>
          <a:bodyPr wrap="square" lIns="0" rIns="0" tIns="0" bIns="0">
            <a:spAutoFit/>
          </a:bodyPr>
          <a:lstStyle/>
          <a:p>
            <a:pPr algn="l">
              <a:lnSpc>
                <a:spcPct val="125000"/>
              </a:lnSpc>
              <a:spcAft>
                <a:spcPts val="600"/>
              </a:spcAft>
            </a:pPr>
            <a:r>
              <a:rPr sz="1350" b="0">
                <a:solidFill>
                  <a:srgbClr val="54636C"/>
                </a:solidFill>
                <a:latin typeface="Segoe UI"/>
              </a:rPr>
              <a:t>Đây là chỗ khác với các phương pháp cắt cụt theo phổ.</a:t>
            </a:r>
          </a:p>
        </p:txBody>
      </p:sp>
      <p:sp>
        <p:nvSpPr>
          <p:cNvPr id="6" name="Rectangle 5"/>
          <p:cNvSpPr/>
          <p:nvPr/>
        </p:nvSpPr>
        <p:spPr>
          <a:xfrm>
            <a:off x="685800" y="2084831"/>
            <a:ext cx="10817352" cy="1097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569463"/>
            <a:ext cx="2487168" cy="2103120"/>
          </a:xfrm>
          <a:prstGeom prst="rect">
            <a:avLst/>
          </a:prstGeom>
          <a:solidFill>
            <a:srgbClr val="F5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2569463"/>
            <a:ext cx="2487168" cy="45720"/>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843783"/>
            <a:ext cx="2103120" cy="365760"/>
          </a:xfrm>
          <a:prstGeom prst="rect">
            <a:avLst/>
          </a:prstGeom>
          <a:noFill/>
        </p:spPr>
        <p:txBody>
          <a:bodyPr wrap="square" lIns="0" rIns="0" tIns="0" bIns="0">
            <a:spAutoFit/>
          </a:bodyPr>
          <a:lstStyle/>
          <a:p>
            <a:pPr algn="l">
              <a:lnSpc>
                <a:spcPct val="125000"/>
              </a:lnSpc>
              <a:spcAft>
                <a:spcPts val="600"/>
              </a:spcAft>
            </a:pPr>
            <a:r>
              <a:rPr sz="1700" b="0">
                <a:solidFill>
                  <a:srgbClr val="12191D"/>
                </a:solidFill>
                <a:latin typeface="Georgia"/>
              </a:rPr>
              <a:t>Chính xác</a:t>
            </a:r>
          </a:p>
        </p:txBody>
      </p:sp>
      <p:sp>
        <p:nvSpPr>
          <p:cNvPr id="10" name="TextBox 9"/>
          <p:cNvSpPr txBox="1"/>
          <p:nvPr/>
        </p:nvSpPr>
        <p:spPr>
          <a:xfrm>
            <a:off x="886968" y="3300983"/>
            <a:ext cx="2139696" cy="1371600"/>
          </a:xfrm>
          <a:prstGeom prst="rect">
            <a:avLst/>
          </a:prstGeom>
          <a:noFill/>
        </p:spPr>
        <p:txBody>
          <a:bodyPr wrap="square" lIns="0" rIns="0" tIns="0" bIns="0">
            <a:spAutoFit/>
          </a:bodyPr>
          <a:lstStyle/>
          <a:p>
            <a:pPr algn="l">
              <a:lnSpc>
                <a:spcPct val="128000"/>
              </a:lnSpc>
              <a:spcAft>
                <a:spcPts val="600"/>
              </a:spcAft>
            </a:pPr>
            <a:r>
              <a:rPr sz="1250" b="0">
                <a:solidFill>
                  <a:srgbClr val="54636C"/>
                </a:solidFill>
                <a:latin typeface="Segoe UI"/>
              </a:rPr>
              <a:t>Không phải xấp xỉ.
Sai số tương đối 6.6×10⁻¹⁵ ở float64.</a:t>
            </a:r>
          </a:p>
        </p:txBody>
      </p:sp>
      <p:sp>
        <p:nvSpPr>
          <p:cNvPr id="11" name="Rectangle 10"/>
          <p:cNvSpPr/>
          <p:nvPr/>
        </p:nvSpPr>
        <p:spPr>
          <a:xfrm>
            <a:off x="3429000" y="2569463"/>
            <a:ext cx="2487168" cy="2103120"/>
          </a:xfrm>
          <a:prstGeom prst="rect">
            <a:avLst/>
          </a:prstGeom>
          <a:solidFill>
            <a:srgbClr val="F5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2569463"/>
            <a:ext cx="2487168" cy="45720"/>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168" y="2843783"/>
            <a:ext cx="2103120" cy="365760"/>
          </a:xfrm>
          <a:prstGeom prst="rect">
            <a:avLst/>
          </a:prstGeom>
          <a:noFill/>
        </p:spPr>
        <p:txBody>
          <a:bodyPr wrap="square" lIns="0" rIns="0" tIns="0" bIns="0">
            <a:spAutoFit/>
          </a:bodyPr>
          <a:lstStyle/>
          <a:p>
            <a:pPr algn="l">
              <a:lnSpc>
                <a:spcPct val="125000"/>
              </a:lnSpc>
              <a:spcAft>
                <a:spcPts val="600"/>
              </a:spcAft>
            </a:pPr>
            <a:r>
              <a:rPr sz="1700" b="0">
                <a:solidFill>
                  <a:srgbClr val="12191D"/>
                </a:solidFill>
                <a:latin typeface="Georgia"/>
              </a:rPr>
              <a:t>Tham số</a:t>
            </a:r>
          </a:p>
        </p:txBody>
      </p:sp>
      <p:sp>
        <p:nvSpPr>
          <p:cNvPr id="14" name="TextBox 13"/>
          <p:cNvSpPr txBox="1"/>
          <p:nvPr/>
        </p:nvSpPr>
        <p:spPr>
          <a:xfrm>
            <a:off x="3630168" y="3300983"/>
            <a:ext cx="2139696" cy="1371600"/>
          </a:xfrm>
          <a:prstGeom prst="rect">
            <a:avLst/>
          </a:prstGeom>
          <a:noFill/>
        </p:spPr>
        <p:txBody>
          <a:bodyPr wrap="square" lIns="0" rIns="0" tIns="0" bIns="0">
            <a:spAutoFit/>
          </a:bodyPr>
          <a:lstStyle/>
          <a:p>
            <a:pPr algn="l">
              <a:lnSpc>
                <a:spcPct val="128000"/>
              </a:lnSpc>
              <a:spcAft>
                <a:spcPts val="600"/>
              </a:spcAft>
            </a:pPr>
            <a:r>
              <a:rPr sz="1250" b="0">
                <a:solidFill>
                  <a:srgbClr val="54636C"/>
                </a:solidFill>
                <a:latin typeface="Segoe UI"/>
              </a:rPr>
              <a:t>k·max(n,m) = n·m.
Đúng bằng trọng số gốc, từng byte.</a:t>
            </a:r>
          </a:p>
        </p:txBody>
      </p:sp>
      <p:sp>
        <p:nvSpPr>
          <p:cNvPr id="15" name="Rectangle 14"/>
          <p:cNvSpPr/>
          <p:nvPr/>
        </p:nvSpPr>
        <p:spPr>
          <a:xfrm>
            <a:off x="6172200" y="2569463"/>
            <a:ext cx="2487168" cy="2103120"/>
          </a:xfrm>
          <a:prstGeom prst="rect">
            <a:avLst/>
          </a:prstGeom>
          <a:solidFill>
            <a:srgbClr val="F5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2569463"/>
            <a:ext cx="2487168" cy="45720"/>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3368" y="2843783"/>
            <a:ext cx="2103120" cy="365760"/>
          </a:xfrm>
          <a:prstGeom prst="rect">
            <a:avLst/>
          </a:prstGeom>
          <a:noFill/>
        </p:spPr>
        <p:txBody>
          <a:bodyPr wrap="square" lIns="0" rIns="0" tIns="0" bIns="0">
            <a:spAutoFit/>
          </a:bodyPr>
          <a:lstStyle/>
          <a:p>
            <a:pPr algn="l">
              <a:lnSpc>
                <a:spcPct val="125000"/>
              </a:lnSpc>
              <a:spcAft>
                <a:spcPts val="600"/>
              </a:spcAft>
            </a:pPr>
            <a:r>
              <a:rPr sz="1700" b="0">
                <a:solidFill>
                  <a:srgbClr val="12191D"/>
                </a:solidFill>
                <a:latin typeface="Georgia"/>
              </a:rPr>
              <a:t>FLOP</a:t>
            </a:r>
          </a:p>
        </p:txBody>
      </p:sp>
      <p:sp>
        <p:nvSpPr>
          <p:cNvPr id="18" name="TextBox 17"/>
          <p:cNvSpPr txBox="1"/>
          <p:nvPr/>
        </p:nvSpPr>
        <p:spPr>
          <a:xfrm>
            <a:off x="6373368" y="3300983"/>
            <a:ext cx="2139696" cy="1371600"/>
          </a:xfrm>
          <a:prstGeom prst="rect">
            <a:avLst/>
          </a:prstGeom>
          <a:noFill/>
        </p:spPr>
        <p:txBody>
          <a:bodyPr wrap="square" lIns="0" rIns="0" tIns="0" bIns="0">
            <a:spAutoFit/>
          </a:bodyPr>
          <a:lstStyle/>
          <a:p>
            <a:pPr algn="l">
              <a:lnSpc>
                <a:spcPct val="128000"/>
              </a:lnSpc>
              <a:spcAft>
                <a:spcPts val="600"/>
              </a:spcAft>
            </a:pPr>
            <a:r>
              <a:rPr sz="1250" b="0">
                <a:solidFill>
                  <a:srgbClr val="54636C"/>
                </a:solidFill>
                <a:latin typeface="Segoe UI"/>
              </a:rPr>
              <a:t>n(m−n) + n² = nm.
Khối identity là phép chọn chỉ số, không phải matmul.</a:t>
            </a:r>
          </a:p>
        </p:txBody>
      </p:sp>
      <p:sp>
        <p:nvSpPr>
          <p:cNvPr id="19" name="Rectangle 18"/>
          <p:cNvSpPr/>
          <p:nvPr/>
        </p:nvSpPr>
        <p:spPr>
          <a:xfrm>
            <a:off x="8915400" y="2569463"/>
            <a:ext cx="2487168" cy="2103120"/>
          </a:xfrm>
          <a:prstGeom prst="rect">
            <a:avLst/>
          </a:prstGeom>
          <a:solidFill>
            <a:srgbClr val="F5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15400" y="2569463"/>
            <a:ext cx="2487168" cy="45720"/>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16568" y="2843783"/>
            <a:ext cx="2103120" cy="365760"/>
          </a:xfrm>
          <a:prstGeom prst="rect">
            <a:avLst/>
          </a:prstGeom>
          <a:noFill/>
        </p:spPr>
        <p:txBody>
          <a:bodyPr wrap="square" lIns="0" rIns="0" tIns="0" bIns="0">
            <a:spAutoFit/>
          </a:bodyPr>
          <a:lstStyle/>
          <a:p>
            <a:pPr algn="l">
              <a:lnSpc>
                <a:spcPct val="125000"/>
              </a:lnSpc>
              <a:spcAft>
                <a:spcPts val="600"/>
              </a:spcAft>
            </a:pPr>
            <a:r>
              <a:rPr sz="1700" b="0">
                <a:solidFill>
                  <a:srgbClr val="12191D"/>
                </a:solidFill>
                <a:latin typeface="Georgia"/>
              </a:rPr>
              <a:t>Inference</a:t>
            </a:r>
          </a:p>
        </p:txBody>
      </p:sp>
      <p:sp>
        <p:nvSpPr>
          <p:cNvPr id="22" name="TextBox 21"/>
          <p:cNvSpPr txBox="1"/>
          <p:nvPr/>
        </p:nvSpPr>
        <p:spPr>
          <a:xfrm>
            <a:off x="9116568" y="3300983"/>
            <a:ext cx="2139696" cy="1371600"/>
          </a:xfrm>
          <a:prstGeom prst="rect">
            <a:avLst/>
          </a:prstGeom>
          <a:noFill/>
        </p:spPr>
        <p:txBody>
          <a:bodyPr wrap="square" lIns="0" rIns="0" tIns="0" bIns="0">
            <a:spAutoFit/>
          </a:bodyPr>
          <a:lstStyle/>
          <a:p>
            <a:pPr algn="l">
              <a:lnSpc>
                <a:spcPct val="128000"/>
              </a:lnSpc>
              <a:spcAft>
                <a:spcPts val="600"/>
              </a:spcAft>
            </a:pPr>
            <a:r>
              <a:rPr sz="1250" b="0">
                <a:solidFill>
                  <a:srgbClr val="54636C"/>
                </a:solidFill>
                <a:latin typeface="Segoe UI"/>
              </a:rPr>
              <a:t>Gộp lại thành một ma trận sau train.
Đo được: 131 ms so với 132 ms — trong nhiễu đo.</a:t>
            </a:r>
          </a:p>
        </p:txBody>
      </p:sp>
      <p:sp>
        <p:nvSpPr>
          <p:cNvPr id="23" name="TextBox 22"/>
          <p:cNvSpPr txBox="1"/>
          <p:nvPr/>
        </p:nvSpPr>
        <p:spPr>
          <a:xfrm>
            <a:off x="685800" y="5129783"/>
            <a:ext cx="10881360" cy="731520"/>
          </a:xfrm>
          <a:prstGeom prst="rect">
            <a:avLst/>
          </a:prstGeom>
          <a:noFill/>
        </p:spPr>
        <p:txBody>
          <a:bodyPr wrap="square" lIns="0" rIns="0" tIns="0" bIns="0">
            <a:spAutoFit/>
          </a:bodyPr>
          <a:lstStyle/>
          <a:p>
            <a:pPr algn="l">
              <a:lnSpc>
                <a:spcPct val="130000"/>
              </a:lnSpc>
              <a:spcAft>
                <a:spcPts val="600"/>
              </a:spcAft>
            </a:pPr>
            <a:r>
              <a:rPr sz="1450" b="1">
                <a:solidFill>
                  <a:srgbClr val="12191D"/>
                </a:solidFill>
                <a:latin typeface="Segoe UI"/>
              </a:rPr>
              <a:t>Đổi lại: </a:t>
            </a:r>
            <a:r>
              <a:rPr sz="1450" b="0">
                <a:solidFill>
                  <a:srgbClr val="54636C"/>
                </a:solidFill>
                <a:latin typeface="Segoe UI"/>
              </a:rPr>
              <a:t>cập nhật bị giam trong một không gian con k chiều của không gian max(n,m) chiều. Một ΔW không liên quan gì tới W₀ chỉ giữ được 1/a = 0.167 chuẩn Frobenius bình phương — nên ràng buộc này không hề tầm thường, và câu hỏi thực nghiệm là nó lọc nhiễu nhiều hơn hay cắt capacity nhiều hơn.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515600" cy="274320"/>
          </a:xfrm>
          <a:prstGeom prst="rect">
            <a:avLst/>
          </a:prstGeom>
          <a:noFill/>
        </p:spPr>
        <p:txBody>
          <a:bodyPr wrap="square" lIns="0" rIns="0" tIns="0" bIns="0">
            <a:spAutoFit/>
          </a:bodyPr>
          <a:lstStyle/>
          <a:p>
            <a:pPr algn="l">
              <a:lnSpc>
                <a:spcPct val="125000"/>
              </a:lnSpc>
              <a:spcAft>
                <a:spcPts val="600"/>
              </a:spcAft>
            </a:pPr>
            <a:r>
              <a:rPr sz="1050" b="1">
                <a:solidFill>
                  <a:srgbClr val="0D6F68"/>
                </a:solidFill>
                <a:latin typeface="Consolas"/>
              </a:rPr>
              <a:t>PHÂN TÍCH</a:t>
            </a:r>
          </a:p>
        </p:txBody>
      </p:sp>
      <p:sp>
        <p:nvSpPr>
          <p:cNvPr id="4" name="TextBox 3"/>
          <p:cNvSpPr txBox="1"/>
          <p:nvPr/>
        </p:nvSpPr>
        <p:spPr>
          <a:xfrm>
            <a:off x="685800" y="777240"/>
            <a:ext cx="10881360" cy="731520"/>
          </a:xfrm>
          <a:prstGeom prst="rect">
            <a:avLst/>
          </a:prstGeom>
          <a:noFill/>
        </p:spPr>
        <p:txBody>
          <a:bodyPr wrap="square" lIns="0" rIns="0" tIns="0" bIns="0">
            <a:spAutoFit/>
          </a:bodyPr>
          <a:lstStyle/>
          <a:p>
            <a:pPr algn="l">
              <a:lnSpc>
                <a:spcPct val="105000"/>
              </a:lnSpc>
              <a:spcAft>
                <a:spcPts val="600"/>
              </a:spcAft>
            </a:pPr>
            <a:r>
              <a:rPr sz="3000" b="0">
                <a:solidFill>
                  <a:srgbClr val="12191D"/>
                </a:solidFill>
                <a:latin typeface="Georgia"/>
              </a:rPr>
              <a:t>Ràng buộc này thực chất là gì</a:t>
            </a:r>
          </a:p>
        </p:txBody>
      </p:sp>
      <p:sp>
        <p:nvSpPr>
          <p:cNvPr id="5" name="Rectangle 4"/>
          <p:cNvSpPr/>
          <p:nvPr/>
        </p:nvSpPr>
        <p:spPr>
          <a:xfrm>
            <a:off x="685800" y="1627632"/>
            <a:ext cx="10817352" cy="1097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066544"/>
            <a:ext cx="274320" cy="274320"/>
          </a:xfrm>
          <a:prstGeom prst="rect">
            <a:avLst/>
          </a:prstGeom>
          <a:noFill/>
        </p:spPr>
        <p:txBody>
          <a:bodyPr wrap="square" lIns="0" rIns="0" tIns="0" bIns="0">
            <a:spAutoFit/>
          </a:bodyPr>
          <a:lstStyle/>
          <a:p>
            <a:pPr algn="l">
              <a:lnSpc>
                <a:spcPct val="125000"/>
              </a:lnSpc>
              <a:spcAft>
                <a:spcPts val="600"/>
              </a:spcAft>
            </a:pPr>
            <a:r>
              <a:rPr sz="1550" b="0">
                <a:solidFill>
                  <a:srgbClr val="0D6F68"/>
                </a:solidFill>
                <a:latin typeface="Consolas"/>
              </a:rPr>
              <a:t>—</a:t>
            </a:r>
          </a:p>
        </p:txBody>
      </p:sp>
      <p:sp>
        <p:nvSpPr>
          <p:cNvPr id="7" name="TextBox 6"/>
          <p:cNvSpPr txBox="1"/>
          <p:nvPr/>
        </p:nvSpPr>
        <p:spPr>
          <a:xfrm>
            <a:off x="1069848" y="2066544"/>
            <a:ext cx="10497312" cy="1024128"/>
          </a:xfrm>
          <a:prstGeom prst="rect">
            <a:avLst/>
          </a:prstGeom>
          <a:noFill/>
        </p:spPr>
        <p:txBody>
          <a:bodyPr wrap="square" lIns="0" rIns="0" tIns="0" bIns="0">
            <a:spAutoFit/>
          </a:bodyPr>
          <a:lstStyle/>
          <a:p>
            <a:pPr algn="l">
              <a:lnSpc>
                <a:spcPct val="122000"/>
              </a:lnSpc>
              <a:spcAft>
                <a:spcPts val="600"/>
              </a:spcAft>
            </a:pPr>
            <a:r>
              <a:rPr sz="1550" b="1">
                <a:solidFill>
                  <a:srgbClr val="12191D"/>
                </a:solidFill>
                <a:latin typeface="Segoe UI"/>
              </a:rPr>
              <a:t>S-LoRA rank r = LoRA rank r bị hạn chế. </a:t>
            </a:r>
            <a:r>
              <a:rPr sz="1550" b="0">
                <a:solidFill>
                  <a:srgbClr val="54636C"/>
                </a:solidFill>
                <a:latin typeface="Segoe UI"/>
              </a:rPr>
              <a:t>Đặt adapter lên W₂ rồi khai triển ra: ΔW = (α/r)·B·(A·P). Vẫn là cập nhật hạng r, nhưng down-projection A·P bị giam trong row space của W₀.</a:t>
            </a:r>
          </a:p>
        </p:txBody>
      </p:sp>
      <p:sp>
        <p:nvSpPr>
          <p:cNvPr id="8" name="TextBox 7"/>
          <p:cNvSpPr txBox="1"/>
          <p:nvPr/>
        </p:nvSpPr>
        <p:spPr>
          <a:xfrm>
            <a:off x="685800" y="3090672"/>
            <a:ext cx="274320" cy="274320"/>
          </a:xfrm>
          <a:prstGeom prst="rect">
            <a:avLst/>
          </a:prstGeom>
          <a:noFill/>
        </p:spPr>
        <p:txBody>
          <a:bodyPr wrap="square" lIns="0" rIns="0" tIns="0" bIns="0">
            <a:spAutoFit/>
          </a:bodyPr>
          <a:lstStyle/>
          <a:p>
            <a:pPr algn="l">
              <a:lnSpc>
                <a:spcPct val="125000"/>
              </a:lnSpc>
              <a:spcAft>
                <a:spcPts val="600"/>
              </a:spcAft>
            </a:pPr>
            <a:r>
              <a:rPr sz="1550" b="0">
                <a:solidFill>
                  <a:srgbClr val="0D6F68"/>
                </a:solidFill>
                <a:latin typeface="Consolas"/>
              </a:rPr>
              <a:t>—</a:t>
            </a:r>
          </a:p>
        </p:txBody>
      </p:sp>
      <p:sp>
        <p:nvSpPr>
          <p:cNvPr id="9" name="TextBox 8"/>
          <p:cNvSpPr txBox="1"/>
          <p:nvPr/>
        </p:nvSpPr>
        <p:spPr>
          <a:xfrm>
            <a:off x="1069848" y="3090672"/>
            <a:ext cx="10497312" cy="1024128"/>
          </a:xfrm>
          <a:prstGeom prst="rect">
            <a:avLst/>
          </a:prstGeom>
          <a:noFill/>
        </p:spPr>
        <p:txBody>
          <a:bodyPr wrap="square" lIns="0" rIns="0" tIns="0" bIns="0">
            <a:spAutoFit/>
          </a:bodyPr>
          <a:lstStyle/>
          <a:p>
            <a:pPr algn="l">
              <a:lnSpc>
                <a:spcPct val="122000"/>
              </a:lnSpc>
              <a:spcAft>
                <a:spcPts val="600"/>
              </a:spcAft>
            </a:pPr>
            <a:r>
              <a:rPr sz="1550" b="1">
                <a:solidFill>
                  <a:srgbClr val="12191D"/>
                </a:solidFill>
                <a:latin typeface="Segoe UI"/>
              </a:rPr>
              <a:t>Nên baseline sắc nhất là LoRA-FA. </a:t>
            </a:r>
            <a:r>
              <a:rPr sz="1550" b="0">
                <a:solidFill>
                  <a:srgbClr val="54636C"/>
                </a:solidFill>
                <a:latin typeface="Segoe UI"/>
              </a:rPr>
              <a:t>Câu hỏi rút gọn thành: A lấy từ row space của W₀ có hơn A ngẫu nhiên đóng băng không? Chưa chạy — đây là baseline còn thiếu quan trọng nhất.</a:t>
            </a:r>
          </a:p>
        </p:txBody>
      </p:sp>
      <p:sp>
        <p:nvSpPr>
          <p:cNvPr id="10" name="TextBox 9"/>
          <p:cNvSpPr txBox="1"/>
          <p:nvPr/>
        </p:nvSpPr>
        <p:spPr>
          <a:xfrm>
            <a:off x="685800" y="4114800"/>
            <a:ext cx="274320" cy="274320"/>
          </a:xfrm>
          <a:prstGeom prst="rect">
            <a:avLst/>
          </a:prstGeom>
          <a:noFill/>
        </p:spPr>
        <p:txBody>
          <a:bodyPr wrap="square" lIns="0" rIns="0" tIns="0" bIns="0">
            <a:spAutoFit/>
          </a:bodyPr>
          <a:lstStyle/>
          <a:p>
            <a:pPr algn="l">
              <a:lnSpc>
                <a:spcPct val="125000"/>
              </a:lnSpc>
              <a:spcAft>
                <a:spcPts val="600"/>
              </a:spcAft>
            </a:pPr>
            <a:r>
              <a:rPr sz="1550" b="0">
                <a:solidFill>
                  <a:srgbClr val="0D6F68"/>
                </a:solidFill>
                <a:latin typeface="Consolas"/>
              </a:rPr>
              <a:t>—</a:t>
            </a:r>
          </a:p>
        </p:txBody>
      </p:sp>
      <p:sp>
        <p:nvSpPr>
          <p:cNvPr id="11" name="TextBox 10"/>
          <p:cNvSpPr txBox="1"/>
          <p:nvPr/>
        </p:nvSpPr>
        <p:spPr>
          <a:xfrm>
            <a:off x="1069848" y="4114800"/>
            <a:ext cx="10497312" cy="1024128"/>
          </a:xfrm>
          <a:prstGeom prst="rect">
            <a:avLst/>
          </a:prstGeom>
          <a:noFill/>
        </p:spPr>
        <p:txBody>
          <a:bodyPr wrap="square" lIns="0" rIns="0" tIns="0" bIns="0">
            <a:spAutoFit/>
          </a:bodyPr>
          <a:lstStyle/>
          <a:p>
            <a:pPr algn="l">
              <a:lnSpc>
                <a:spcPct val="122000"/>
              </a:lnSpc>
              <a:spcAft>
                <a:spcPts val="600"/>
              </a:spcAft>
            </a:pPr>
            <a:r>
              <a:rPr sz="1550" b="1">
                <a:solidFill>
                  <a:srgbClr val="12191D"/>
                </a:solidFill>
                <a:latin typeface="Segoe UI"/>
              </a:rPr>
              <a:t>Về gradient, đây là GD có preconditioner cố định. </a:t>
            </a:r>
            <a:r>
              <a:rPr sz="1550" b="0">
                <a:solidFill>
                  <a:srgbClr val="54636C"/>
                </a:solidFill>
                <a:latin typeface="Segoe UI"/>
              </a:rPr>
              <a:t>ΔW = −η·(∂L/∂W)·(PᵀP), với PᵀP nửa xác định dương, hạng k, ảnh đúng bằng row(W₀). Cơ sở trực chuẩn cho PᵀP = VVᵀ (phép chiếu thuần); cơ sở pivoted-QR vừa chiếu vừa co giãn.</a:t>
            </a:r>
          </a:p>
        </p:txBody>
      </p:sp>
      <p:sp>
        <p:nvSpPr>
          <p:cNvPr id="12" name="TextBox 11"/>
          <p:cNvSpPr txBox="1"/>
          <p:nvPr/>
        </p:nvSpPr>
        <p:spPr>
          <a:xfrm>
            <a:off x="685800" y="5221224"/>
            <a:ext cx="10881360" cy="548640"/>
          </a:xfrm>
          <a:prstGeom prst="rect">
            <a:avLst/>
          </a:prstGeom>
          <a:noFill/>
        </p:spPr>
        <p:txBody>
          <a:bodyPr wrap="square" lIns="0" rIns="0" tIns="0" bIns="0">
            <a:spAutoFit/>
          </a:bodyPr>
          <a:lstStyle/>
          <a:p>
            <a:pPr algn="l">
              <a:lnSpc>
                <a:spcPct val="125000"/>
              </a:lnSpc>
              <a:spcAft>
                <a:spcPts val="600"/>
              </a:spcAft>
            </a:pPr>
            <a:r>
              <a:rPr sz="1400" b="1">
                <a:solidFill>
                  <a:srgbClr val="9C5518"/>
                </a:solidFill>
                <a:latin typeface="Segoe UI"/>
              </a:rPr>
              <a:t>Chưa đo: </a:t>
            </a:r>
            <a:r>
              <a:rPr sz="1400" b="0">
                <a:solidFill>
                  <a:srgbClr val="54636C"/>
                </a:solidFill>
                <a:latin typeface="Segoe UI"/>
              </a:rPr>
              <a:t>ρ = ‖ΔW·VVᵀ‖²/‖ΔW‖² trên một lần fine-tune tự do. ρ ≈ 0.167 nghĩa là ràng buộc vứt đi phần lớn cập nhật hữu ích; ρ &gt; 0.9 nghĩa là nó có cơ sở.</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515600" cy="274320"/>
          </a:xfrm>
          <a:prstGeom prst="rect">
            <a:avLst/>
          </a:prstGeom>
          <a:noFill/>
        </p:spPr>
        <p:txBody>
          <a:bodyPr wrap="square" lIns="0" rIns="0" tIns="0" bIns="0">
            <a:spAutoFit/>
          </a:bodyPr>
          <a:lstStyle/>
          <a:p>
            <a:pPr algn="l">
              <a:lnSpc>
                <a:spcPct val="125000"/>
              </a:lnSpc>
              <a:spcAft>
                <a:spcPts val="600"/>
              </a:spcAft>
            </a:pPr>
            <a:r>
              <a:rPr sz="1050" b="1">
                <a:solidFill>
                  <a:srgbClr val="0D6F68"/>
                </a:solidFill>
                <a:latin typeface="Consolas"/>
              </a:rPr>
              <a:t>KẾ TOÁN THAM SỐ</a:t>
            </a:r>
          </a:p>
        </p:txBody>
      </p:sp>
      <p:sp>
        <p:nvSpPr>
          <p:cNvPr id="4" name="TextBox 3"/>
          <p:cNvSpPr txBox="1"/>
          <p:nvPr/>
        </p:nvSpPr>
        <p:spPr>
          <a:xfrm>
            <a:off x="685800" y="777240"/>
            <a:ext cx="10881360" cy="731520"/>
          </a:xfrm>
          <a:prstGeom prst="rect">
            <a:avLst/>
          </a:prstGeom>
          <a:noFill/>
        </p:spPr>
        <p:txBody>
          <a:bodyPr wrap="square" lIns="0" rIns="0" tIns="0" bIns="0">
            <a:spAutoFit/>
          </a:bodyPr>
          <a:lstStyle/>
          <a:p>
            <a:pPr algn="l">
              <a:lnSpc>
                <a:spcPct val="105000"/>
              </a:lnSpc>
              <a:spcAft>
                <a:spcPts val="600"/>
              </a:spcAft>
            </a:pPr>
            <a:r>
              <a:rPr sz="3000" b="0">
                <a:solidFill>
                  <a:srgbClr val="12191D"/>
                </a:solidFill>
                <a:latin typeface="Georgia"/>
              </a:rPr>
              <a:t>Rẻ hơn bao nhiêu, và ở đâu thì không rẻ hơn</a:t>
            </a:r>
          </a:p>
        </p:txBody>
      </p:sp>
      <p:sp>
        <p:nvSpPr>
          <p:cNvPr id="5" name="TextBox 4"/>
          <p:cNvSpPr txBox="1"/>
          <p:nvPr/>
        </p:nvSpPr>
        <p:spPr>
          <a:xfrm>
            <a:off x="685800" y="1572768"/>
            <a:ext cx="10881360" cy="365760"/>
          </a:xfrm>
          <a:prstGeom prst="rect">
            <a:avLst/>
          </a:prstGeom>
          <a:noFill/>
        </p:spPr>
        <p:txBody>
          <a:bodyPr wrap="square" lIns="0" rIns="0" tIns="0" bIns="0">
            <a:spAutoFit/>
          </a:bodyPr>
          <a:lstStyle/>
          <a:p>
            <a:pPr algn="l">
              <a:lnSpc>
                <a:spcPct val="125000"/>
              </a:lnSpc>
              <a:spcAft>
                <a:spcPts val="600"/>
              </a:spcAft>
            </a:pPr>
            <a:r>
              <a:rPr sz="1350" b="0">
                <a:solidFill>
                  <a:srgbClr val="54636C"/>
                </a:solidFill>
                <a:latin typeface="Segoe UI"/>
              </a:rPr>
              <a:t>k = min(n,m),  a = max(n,m)/k.  Với k_proj/v_proj của Qwen: k = 256, a = 6.</a:t>
            </a:r>
          </a:p>
        </p:txBody>
      </p:sp>
      <p:sp>
        <p:nvSpPr>
          <p:cNvPr id="6" name="Rectangle 5"/>
          <p:cNvSpPr/>
          <p:nvPr/>
        </p:nvSpPr>
        <p:spPr>
          <a:xfrm>
            <a:off x="685800" y="2084831"/>
            <a:ext cx="10817352" cy="1097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85800" y="2569463"/>
          <a:ext cx="7680960" cy="1840504"/>
        </p:xfrm>
        <a:graphic>
          <a:graphicData uri="http://schemas.openxmlformats.org/drawingml/2006/table">
            <a:tbl>
              <a:tblPr firstRow="1">
                <a:tableStyleId>{5C22544A-7EE6-4342-B048-85BDC9FD1C3A}</a:tableStyleId>
              </a:tblPr>
              <a:tblGrid>
                <a:gridCol w="2057400"/>
                <a:gridCol w="2194560"/>
                <a:gridCol w="1234440"/>
                <a:gridCol w="1234440"/>
                <a:gridCol w="960120"/>
              </a:tblGrid>
              <a:tr h="286024">
                <a:tc>
                  <a:txBody>
                    <a:bodyPr wrap="square"/>
                    <a:lstStyle/>
                    <a:p>
                      <a:pPr algn="l"/>
                      <a:r>
                        <a:rPr sz="1050" b="1">
                          <a:solidFill>
                            <a:srgbClr val="7D8B94"/>
                          </a:solidFill>
                          <a:latin typeface="Consolas"/>
                        </a:rPr>
                        <a:t>Adapter</a:t>
                      </a:r>
                    </a:p>
                  </a:txBody>
                  <a:tcPr marL="82296" marR="82296" marT="27432" marB="27432">
                    <a:solidFill>
                      <a:srgbClr val="F5F7F8"/>
                    </a:solidFill>
                  </a:tcPr>
                </a:tc>
                <a:tc>
                  <a:txBody>
                    <a:bodyPr wrap="square"/>
                    <a:lstStyle/>
                    <a:p>
                      <a:pPr algn="r"/>
                      <a:r>
                        <a:rPr sz="1050" b="1">
                          <a:solidFill>
                            <a:srgbClr val="7D8B94"/>
                          </a:solidFill>
                          <a:latin typeface="Consolas"/>
                        </a:rPr>
                        <a:t>trên W₀</a:t>
                      </a:r>
                    </a:p>
                  </a:txBody>
                  <a:tcPr marL="82296" marR="82296" marT="27432" marB="27432">
                    <a:solidFill>
                      <a:srgbClr val="F5F7F8"/>
                    </a:solidFill>
                  </a:tcPr>
                </a:tc>
                <a:tc>
                  <a:txBody>
                    <a:bodyPr wrap="square"/>
                    <a:lstStyle/>
                    <a:p>
                      <a:pPr algn="r"/>
                      <a:r>
                        <a:rPr sz="1050" b="1">
                          <a:solidFill>
                            <a:srgbClr val="7D8B94"/>
                          </a:solidFill>
                          <a:latin typeface="Consolas"/>
                        </a:rPr>
                        <a:t>trên W₂</a:t>
                      </a:r>
                    </a:p>
                  </a:txBody>
                  <a:tcPr marL="82296" marR="82296" marT="27432" marB="27432">
                    <a:solidFill>
                      <a:srgbClr val="F5F7F8"/>
                    </a:solidFill>
                  </a:tcPr>
                </a:tc>
                <a:tc>
                  <a:txBody>
                    <a:bodyPr wrap="square"/>
                    <a:lstStyle/>
                    <a:p>
                      <a:pPr algn="r"/>
                      <a:r>
                        <a:rPr sz="1050" b="1">
                          <a:solidFill>
                            <a:srgbClr val="7D8B94"/>
                          </a:solidFill>
                          <a:latin typeface="Consolas"/>
                        </a:rPr>
                        <a:t>tiết kiệm</a:t>
                      </a:r>
                    </a:p>
                  </a:txBody>
                  <a:tcPr marL="82296" marR="82296" marT="27432" marB="27432">
                    <a:solidFill>
                      <a:srgbClr val="F5F7F8"/>
                    </a:solidFill>
                  </a:tcPr>
                </a:tc>
                <a:tc>
                  <a:txBody>
                    <a:bodyPr wrap="square"/>
                    <a:lstStyle/>
                    <a:p>
                      <a:pPr algn="r"/>
                      <a:r>
                        <a:rPr sz="1050" b="1">
                          <a:solidFill>
                            <a:srgbClr val="7D8B94"/>
                          </a:solidFill>
                          <a:latin typeface="Consolas"/>
                        </a:rPr>
                        <a:t>a = 6</a:t>
                      </a:r>
                    </a:p>
                  </a:txBody>
                  <a:tcPr marL="82296" marR="82296" marT="27432" marB="27432">
                    <a:solidFill>
                      <a:srgbClr val="F5F7F8"/>
                    </a:solidFill>
                  </a:tcPr>
                </a:tc>
              </a:tr>
              <a:tr h="310896">
                <a:tc>
                  <a:txBody>
                    <a:bodyPr wrap="square"/>
                    <a:lstStyle/>
                    <a:p>
                      <a:pPr algn="l"/>
                      <a:r>
                        <a:rPr sz="1200" b="0">
                          <a:solidFill>
                            <a:srgbClr val="12191D"/>
                          </a:solidFill>
                          <a:latin typeface="Segoe UI"/>
                        </a:rPr>
                        <a:t>full fine-tuning</a:t>
                      </a:r>
                    </a:p>
                  </a:txBody>
                  <a:tcPr marL="82296" marR="82296" marT="27432" marB="27432">
                    <a:solidFill>
                      <a:srgbClr val="FFFFFF"/>
                    </a:solidFill>
                  </a:tcPr>
                </a:tc>
                <a:tc>
                  <a:txBody>
                    <a:bodyPr wrap="square"/>
                    <a:lstStyle/>
                    <a:p>
                      <a:pPr algn="r"/>
                      <a:r>
                        <a:rPr sz="1200" b="0">
                          <a:solidFill>
                            <a:srgbClr val="12191D"/>
                          </a:solidFill>
                          <a:latin typeface="Consolas"/>
                        </a:rPr>
                        <a:t>a·k²</a:t>
                      </a:r>
                    </a:p>
                  </a:txBody>
                  <a:tcPr marL="82296" marR="82296" marT="27432" marB="27432">
                    <a:solidFill>
                      <a:srgbClr val="FFFFFF"/>
                    </a:solidFill>
                  </a:tcPr>
                </a:tc>
                <a:tc>
                  <a:txBody>
                    <a:bodyPr wrap="square"/>
                    <a:lstStyle/>
                    <a:p>
                      <a:pPr algn="r"/>
                      <a:r>
                        <a:rPr sz="1200" b="0">
                          <a:solidFill>
                            <a:srgbClr val="12191D"/>
                          </a:solidFill>
                          <a:latin typeface="Consolas"/>
                        </a:rPr>
                        <a:t>k²</a:t>
                      </a:r>
                    </a:p>
                  </a:txBody>
                  <a:tcPr marL="82296" marR="82296" marT="27432" marB="27432">
                    <a:solidFill>
                      <a:srgbClr val="FFFFFF"/>
                    </a:solidFill>
                  </a:tcPr>
                </a:tc>
                <a:tc>
                  <a:txBody>
                    <a:bodyPr wrap="square"/>
                    <a:lstStyle/>
                    <a:p>
                      <a:pPr algn="r"/>
                      <a:r>
                        <a:rPr sz="1200" b="0">
                          <a:solidFill>
                            <a:srgbClr val="12191D"/>
                          </a:solidFill>
                          <a:latin typeface="Consolas"/>
                        </a:rPr>
                        <a:t>a</a:t>
                      </a:r>
                    </a:p>
                  </a:txBody>
                  <a:tcPr marL="82296" marR="82296" marT="27432" marB="27432">
                    <a:solidFill>
                      <a:srgbClr val="FFFFFF"/>
                    </a:solidFill>
                  </a:tcPr>
                </a:tc>
                <a:tc>
                  <a:txBody>
                    <a:bodyPr wrap="square"/>
                    <a:lstStyle/>
                    <a:p>
                      <a:pPr algn="r"/>
                      <a:r>
                        <a:rPr sz="1200" b="0">
                          <a:solidFill>
                            <a:srgbClr val="12191D"/>
                          </a:solidFill>
                          <a:latin typeface="Consolas"/>
                        </a:rPr>
                        <a:t>6.0×</a:t>
                      </a:r>
                    </a:p>
                  </a:txBody>
                  <a:tcPr marL="82296" marR="82296" marT="27432" marB="27432">
                    <a:solidFill>
                      <a:srgbClr val="FFFFFF"/>
                    </a:solidFill>
                  </a:tcPr>
                </a:tc>
              </a:tr>
              <a:tr h="310896">
                <a:tc>
                  <a:txBody>
                    <a:bodyPr wrap="square"/>
                    <a:lstStyle/>
                    <a:p>
                      <a:pPr algn="l"/>
                      <a:r>
                        <a:rPr sz="1200" b="0">
                          <a:solidFill>
                            <a:srgbClr val="12191D"/>
                          </a:solidFill>
                          <a:latin typeface="Segoe UI"/>
                        </a:rPr>
                        <a:t>LoRA rank r</a:t>
                      </a:r>
                    </a:p>
                  </a:txBody>
                  <a:tcPr marL="82296" marR="82296" marT="27432" marB="27432">
                    <a:solidFill>
                      <a:srgbClr val="FFFFFF"/>
                    </a:solidFill>
                  </a:tcPr>
                </a:tc>
                <a:tc>
                  <a:txBody>
                    <a:bodyPr wrap="square"/>
                    <a:lstStyle/>
                    <a:p>
                      <a:pPr algn="r"/>
                      <a:r>
                        <a:rPr sz="1200" b="0">
                          <a:solidFill>
                            <a:srgbClr val="12191D"/>
                          </a:solidFill>
                          <a:latin typeface="Consolas"/>
                        </a:rPr>
                        <a:t>r·k(1+a)</a:t>
                      </a:r>
                    </a:p>
                  </a:txBody>
                  <a:tcPr marL="82296" marR="82296" marT="27432" marB="27432">
                    <a:solidFill>
                      <a:srgbClr val="FFFFFF"/>
                    </a:solidFill>
                  </a:tcPr>
                </a:tc>
                <a:tc>
                  <a:txBody>
                    <a:bodyPr wrap="square"/>
                    <a:lstStyle/>
                    <a:p>
                      <a:pPr algn="r"/>
                      <a:r>
                        <a:rPr sz="1200" b="0">
                          <a:solidFill>
                            <a:srgbClr val="12191D"/>
                          </a:solidFill>
                          <a:latin typeface="Consolas"/>
                        </a:rPr>
                        <a:t>2rk</a:t>
                      </a:r>
                    </a:p>
                  </a:txBody>
                  <a:tcPr marL="82296" marR="82296" marT="27432" marB="27432">
                    <a:solidFill>
                      <a:srgbClr val="FFFFFF"/>
                    </a:solidFill>
                  </a:tcPr>
                </a:tc>
                <a:tc>
                  <a:txBody>
                    <a:bodyPr wrap="square"/>
                    <a:lstStyle/>
                    <a:p>
                      <a:pPr algn="r"/>
                      <a:r>
                        <a:rPr sz="1200" b="0">
                          <a:solidFill>
                            <a:srgbClr val="12191D"/>
                          </a:solidFill>
                          <a:latin typeface="Consolas"/>
                        </a:rPr>
                        <a:t>(1+a)/2</a:t>
                      </a:r>
                    </a:p>
                  </a:txBody>
                  <a:tcPr marL="82296" marR="82296" marT="27432" marB="27432">
                    <a:solidFill>
                      <a:srgbClr val="FFFFFF"/>
                    </a:solidFill>
                  </a:tcPr>
                </a:tc>
                <a:tc>
                  <a:txBody>
                    <a:bodyPr wrap="square"/>
                    <a:lstStyle/>
                    <a:p>
                      <a:pPr algn="r"/>
                      <a:r>
                        <a:rPr sz="1200" b="0">
                          <a:solidFill>
                            <a:srgbClr val="12191D"/>
                          </a:solidFill>
                          <a:latin typeface="Consolas"/>
                        </a:rPr>
                        <a:t>3.5×</a:t>
                      </a:r>
                    </a:p>
                  </a:txBody>
                  <a:tcPr marL="82296" marR="82296" marT="27432" marB="27432">
                    <a:solidFill>
                      <a:srgbClr val="FFFFFF"/>
                    </a:solidFill>
                  </a:tcPr>
                </a:tc>
              </a:tr>
              <a:tr h="310896">
                <a:tc>
                  <a:txBody>
                    <a:bodyPr wrap="square"/>
                    <a:lstStyle/>
                    <a:p>
                      <a:pPr algn="l"/>
                      <a:r>
                        <a:rPr sz="1200" b="0">
                          <a:solidFill>
                            <a:srgbClr val="12191D"/>
                          </a:solidFill>
                          <a:latin typeface="Segoe UI"/>
                        </a:rPr>
                        <a:t>DoRA rank r</a:t>
                      </a:r>
                    </a:p>
                  </a:txBody>
                  <a:tcPr marL="82296" marR="82296" marT="27432" marB="27432">
                    <a:solidFill>
                      <a:srgbClr val="FFFFFF"/>
                    </a:solidFill>
                  </a:tcPr>
                </a:tc>
                <a:tc>
                  <a:txBody>
                    <a:bodyPr wrap="square"/>
                    <a:lstStyle/>
                    <a:p>
                      <a:pPr algn="r"/>
                      <a:r>
                        <a:rPr sz="1200" b="0">
                          <a:solidFill>
                            <a:srgbClr val="12191D"/>
                          </a:solidFill>
                          <a:latin typeface="Consolas"/>
                        </a:rPr>
                        <a:t>r·k(1+a)+max(n,m)</a:t>
                      </a:r>
                    </a:p>
                  </a:txBody>
                  <a:tcPr marL="82296" marR="82296" marT="27432" marB="27432">
                    <a:solidFill>
                      <a:srgbClr val="FFFFFF"/>
                    </a:solidFill>
                  </a:tcPr>
                </a:tc>
                <a:tc>
                  <a:txBody>
                    <a:bodyPr wrap="square"/>
                    <a:lstStyle/>
                    <a:p>
                      <a:pPr algn="r"/>
                      <a:r>
                        <a:rPr sz="1200" b="0">
                          <a:solidFill>
                            <a:srgbClr val="12191D"/>
                          </a:solidFill>
                          <a:latin typeface="Consolas"/>
                        </a:rPr>
                        <a:t>2rk+k</a:t>
                      </a:r>
                    </a:p>
                  </a:txBody>
                  <a:tcPr marL="82296" marR="82296" marT="27432" marB="27432">
                    <a:solidFill>
                      <a:srgbClr val="FFFFFF"/>
                    </a:solidFill>
                  </a:tcPr>
                </a:tc>
                <a:tc>
                  <a:txBody>
                    <a:bodyPr wrap="square"/>
                    <a:lstStyle/>
                    <a:p>
                      <a:pPr algn="r"/>
                      <a:r>
                        <a:rPr sz="1200" b="0">
                          <a:solidFill>
                            <a:srgbClr val="12191D"/>
                          </a:solidFill>
                          <a:latin typeface="Consolas"/>
                        </a:rPr>
                        <a:t>(1+a)/2</a:t>
                      </a:r>
                    </a:p>
                  </a:txBody>
                  <a:tcPr marL="82296" marR="82296" marT="27432" marB="27432">
                    <a:solidFill>
                      <a:srgbClr val="FFFFFF"/>
                    </a:solidFill>
                  </a:tcPr>
                </a:tc>
                <a:tc>
                  <a:txBody>
                    <a:bodyPr wrap="square"/>
                    <a:lstStyle/>
                    <a:p>
                      <a:pPr algn="r"/>
                      <a:r>
                        <a:rPr sz="1200" b="0">
                          <a:solidFill>
                            <a:srgbClr val="12191D"/>
                          </a:solidFill>
                          <a:latin typeface="Consolas"/>
                        </a:rPr>
                        <a:t>3.5×</a:t>
                      </a:r>
                    </a:p>
                  </a:txBody>
                  <a:tcPr marL="82296" marR="82296" marT="27432" marB="27432">
                    <a:solidFill>
                      <a:srgbClr val="FFFFFF"/>
                    </a:solidFill>
                  </a:tcPr>
                </a:tc>
              </a:tr>
              <a:tr h="310896">
                <a:tc>
                  <a:txBody>
                    <a:bodyPr wrap="square"/>
                    <a:lstStyle/>
                    <a:p>
                      <a:pPr algn="l"/>
                      <a:r>
                        <a:rPr sz="1200" b="0">
                          <a:solidFill>
                            <a:srgbClr val="12191D"/>
                          </a:solidFill>
                          <a:latin typeface="Segoe UI"/>
                        </a:rPr>
                        <a:t>LoRA-XS rank r</a:t>
                      </a:r>
                    </a:p>
                  </a:txBody>
                  <a:tcPr marL="82296" marR="82296" marT="27432" marB="27432">
                    <a:solidFill>
                      <a:srgbClr val="FFFFFF"/>
                    </a:solidFill>
                  </a:tcPr>
                </a:tc>
                <a:tc>
                  <a:txBody>
                    <a:bodyPr wrap="square"/>
                    <a:lstStyle/>
                    <a:p>
                      <a:pPr algn="r"/>
                      <a:r>
                        <a:rPr sz="1200" b="0">
                          <a:solidFill>
                            <a:srgbClr val="12191D"/>
                          </a:solidFill>
                          <a:latin typeface="Consolas"/>
                        </a:rPr>
                        <a:t>r²</a:t>
                      </a:r>
                    </a:p>
                  </a:txBody>
                  <a:tcPr marL="82296" marR="82296" marT="27432" marB="27432">
                    <a:solidFill>
                      <a:srgbClr val="FFFFFF"/>
                    </a:solidFill>
                  </a:tcPr>
                </a:tc>
                <a:tc>
                  <a:txBody>
                    <a:bodyPr wrap="square"/>
                    <a:lstStyle/>
                    <a:p>
                      <a:pPr algn="r"/>
                      <a:r>
                        <a:rPr sz="1200" b="0">
                          <a:solidFill>
                            <a:srgbClr val="12191D"/>
                          </a:solidFill>
                          <a:latin typeface="Consolas"/>
                        </a:rPr>
                        <a:t>r²</a:t>
                      </a:r>
                    </a:p>
                  </a:txBody>
                  <a:tcPr marL="82296" marR="82296" marT="27432" marB="27432">
                    <a:solidFill>
                      <a:srgbClr val="FFFFFF"/>
                    </a:solidFill>
                  </a:tcPr>
                </a:tc>
                <a:tc>
                  <a:txBody>
                    <a:bodyPr wrap="square"/>
                    <a:lstStyle/>
                    <a:p>
                      <a:pPr algn="r"/>
                      <a:r>
                        <a:rPr sz="1200" b="0">
                          <a:solidFill>
                            <a:srgbClr val="12191D"/>
                          </a:solidFill>
                          <a:latin typeface="Consolas"/>
                        </a:rPr>
                        <a:t>1</a:t>
                      </a:r>
                    </a:p>
                  </a:txBody>
                  <a:tcPr marL="82296" marR="82296" marT="27432" marB="27432">
                    <a:solidFill>
                      <a:srgbClr val="FFFFFF"/>
                    </a:solidFill>
                  </a:tcPr>
                </a:tc>
                <a:tc>
                  <a:txBody>
                    <a:bodyPr wrap="square"/>
                    <a:lstStyle/>
                    <a:p>
                      <a:pPr algn="r"/>
                      <a:r>
                        <a:rPr sz="1200" b="0">
                          <a:solidFill>
                            <a:srgbClr val="12191D"/>
                          </a:solidFill>
                          <a:latin typeface="Consolas"/>
                        </a:rPr>
                        <a:t>1.0×</a:t>
                      </a:r>
                    </a:p>
                  </a:txBody>
                  <a:tcPr marL="82296" marR="82296" marT="27432" marB="27432">
                    <a:solidFill>
                      <a:srgbClr val="FFFFFF"/>
                    </a:solidFill>
                  </a:tcPr>
                </a:tc>
              </a:tr>
              <a:tr h="310896">
                <a:tc>
                  <a:txBody>
                    <a:bodyPr wrap="square"/>
                    <a:lstStyle/>
                    <a:p>
                      <a:pPr algn="l"/>
                      <a:r>
                        <a:rPr sz="1200" b="0">
                          <a:solidFill>
                            <a:srgbClr val="9C5518"/>
                          </a:solidFill>
                          <a:latin typeface="Segoe UI"/>
                        </a:rPr>
                        <a:t>PMSS rank r</a:t>
                      </a:r>
                    </a:p>
                  </a:txBody>
                  <a:tcPr marL="82296" marR="82296" marT="27432" marB="27432">
                    <a:solidFill>
                      <a:srgbClr val="FFFFFF"/>
                    </a:solidFill>
                  </a:tcPr>
                </a:tc>
                <a:tc>
                  <a:txBody>
                    <a:bodyPr wrap="square"/>
                    <a:lstStyle/>
                    <a:p>
                      <a:pPr algn="r"/>
                      <a:r>
                        <a:rPr sz="1200" b="0">
                          <a:solidFill>
                            <a:srgbClr val="9C5518"/>
                          </a:solidFill>
                          <a:latin typeface="Consolas"/>
                        </a:rPr>
                        <a:t>r²</a:t>
                      </a:r>
                    </a:p>
                  </a:txBody>
                  <a:tcPr marL="82296" marR="82296" marT="27432" marB="27432">
                    <a:solidFill>
                      <a:srgbClr val="FFFFFF"/>
                    </a:solidFill>
                  </a:tcPr>
                </a:tc>
                <a:tc>
                  <a:txBody>
                    <a:bodyPr wrap="square"/>
                    <a:lstStyle/>
                    <a:p>
                      <a:pPr algn="r"/>
                      <a:r>
                        <a:rPr sz="1200" b="0">
                          <a:solidFill>
                            <a:srgbClr val="9C5518"/>
                          </a:solidFill>
                          <a:latin typeface="Consolas"/>
                        </a:rPr>
                        <a:t>r²</a:t>
                      </a:r>
                    </a:p>
                  </a:txBody>
                  <a:tcPr marL="82296" marR="82296" marT="27432" marB="27432">
                    <a:solidFill>
                      <a:srgbClr val="FFFFFF"/>
                    </a:solidFill>
                  </a:tcPr>
                </a:tc>
                <a:tc>
                  <a:txBody>
                    <a:bodyPr wrap="square"/>
                    <a:lstStyle/>
                    <a:p>
                      <a:pPr algn="r"/>
                      <a:r>
                        <a:rPr sz="1200" b="0">
                          <a:solidFill>
                            <a:srgbClr val="9C5518"/>
                          </a:solidFill>
                          <a:latin typeface="Consolas"/>
                        </a:rPr>
                        <a:t>1</a:t>
                      </a:r>
                    </a:p>
                  </a:txBody>
                  <a:tcPr marL="82296" marR="82296" marT="27432" marB="27432">
                    <a:solidFill>
                      <a:srgbClr val="FFFFFF"/>
                    </a:solidFill>
                  </a:tcPr>
                </a:tc>
                <a:tc>
                  <a:txBody>
                    <a:bodyPr wrap="square"/>
                    <a:lstStyle/>
                    <a:p>
                      <a:pPr algn="r"/>
                      <a:r>
                        <a:rPr sz="1200" b="0">
                          <a:solidFill>
                            <a:srgbClr val="9C5518"/>
                          </a:solidFill>
                          <a:latin typeface="Consolas"/>
                        </a:rPr>
                        <a:t>1.0×</a:t>
                      </a:r>
                    </a:p>
                  </a:txBody>
                  <a:tcPr marL="82296" marR="82296" marT="27432" marB="27432">
                    <a:solidFill>
                      <a:srgbClr val="FFFFFF"/>
                    </a:solidFill>
                  </a:tcPr>
                </a:tc>
              </a:tr>
            </a:tbl>
          </a:graphicData>
        </a:graphic>
      </p:graphicFrame>
      <p:sp>
        <p:nvSpPr>
          <p:cNvPr id="8" name="TextBox 7"/>
          <p:cNvSpPr txBox="1"/>
          <p:nvPr/>
        </p:nvSpPr>
        <p:spPr>
          <a:xfrm>
            <a:off x="8686800" y="2615183"/>
            <a:ext cx="2834640" cy="2743200"/>
          </a:xfrm>
          <a:prstGeom prst="rect">
            <a:avLst/>
          </a:prstGeom>
          <a:noFill/>
        </p:spPr>
        <p:txBody>
          <a:bodyPr wrap="square" lIns="0" rIns="0" tIns="0" bIns="0">
            <a:spAutoFit/>
          </a:bodyPr>
          <a:lstStyle/>
          <a:p>
            <a:pPr algn="l">
              <a:lnSpc>
                <a:spcPct val="130000"/>
              </a:lnSpc>
              <a:spcAft>
                <a:spcPts val="600"/>
              </a:spcAft>
            </a:pPr>
            <a:r>
              <a:rPr sz="1500" b="1">
                <a:solidFill>
                  <a:srgbClr val="9C5518"/>
                </a:solidFill>
                <a:latin typeface="Segoe UI"/>
              </a:rPr>
              <a:t>Nói thẳng chỗ không áp dụng.</a:t>
            </a:r>
          </a:p>
          <a:p>
            <a:pPr algn="l">
              <a:lnSpc>
                <a:spcPct val="130000"/>
              </a:lnSpc>
              <a:spcAft>
                <a:spcPts val="600"/>
              </a:spcAft>
            </a:pPr>
            <a:r>
              <a:rPr sz="1300" b="0">
                <a:solidFill>
                  <a:srgbClr val="54636C"/>
                </a:solidFill>
                <a:latin typeface="Segoe UI"/>
              </a:rPr>
              <a:t>LoRA-XS và PMSS có chi phí độc lập kích thước lớp — thu nhỏ ma trận được adapt không giúp gì cho chúng. Trích (1+a)/2 để so với hai phương pháp đó là sai, và reviewer sẽ bắt ngay.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515600" cy="274320"/>
          </a:xfrm>
          <a:prstGeom prst="rect">
            <a:avLst/>
          </a:prstGeom>
          <a:noFill/>
        </p:spPr>
        <p:txBody>
          <a:bodyPr wrap="square" lIns="0" rIns="0" tIns="0" bIns="0">
            <a:spAutoFit/>
          </a:bodyPr>
          <a:lstStyle/>
          <a:p>
            <a:pPr algn="l">
              <a:lnSpc>
                <a:spcPct val="125000"/>
              </a:lnSpc>
              <a:spcAft>
                <a:spcPts val="600"/>
              </a:spcAft>
            </a:pPr>
            <a:r>
              <a:rPr sz="1050" b="1">
                <a:solidFill>
                  <a:srgbClr val="0D6F68"/>
                </a:solidFill>
                <a:latin typeface="Consolas"/>
              </a:rPr>
              <a:t>THỰC NGHIỆM</a:t>
            </a:r>
          </a:p>
        </p:txBody>
      </p:sp>
      <p:sp>
        <p:nvSpPr>
          <p:cNvPr id="4" name="TextBox 3"/>
          <p:cNvSpPr txBox="1"/>
          <p:nvPr/>
        </p:nvSpPr>
        <p:spPr>
          <a:xfrm>
            <a:off x="685800" y="777240"/>
            <a:ext cx="10881360" cy="731520"/>
          </a:xfrm>
          <a:prstGeom prst="rect">
            <a:avLst/>
          </a:prstGeom>
          <a:noFill/>
        </p:spPr>
        <p:txBody>
          <a:bodyPr wrap="square" lIns="0" rIns="0" tIns="0" bIns="0">
            <a:spAutoFit/>
          </a:bodyPr>
          <a:lstStyle/>
          <a:p>
            <a:pPr algn="l">
              <a:lnSpc>
                <a:spcPct val="105000"/>
              </a:lnSpc>
              <a:spcAft>
                <a:spcPts val="600"/>
              </a:spcAft>
            </a:pPr>
            <a:r>
              <a:rPr sz="3000" b="0">
                <a:solidFill>
                  <a:srgbClr val="12191D"/>
                </a:solidFill>
                <a:latin typeface="Georgia"/>
              </a:rPr>
              <a:t>Thiết lập</a:t>
            </a:r>
          </a:p>
        </p:txBody>
      </p:sp>
      <p:sp>
        <p:nvSpPr>
          <p:cNvPr id="5" name="Rectangle 4"/>
          <p:cNvSpPr/>
          <p:nvPr/>
        </p:nvSpPr>
        <p:spPr>
          <a:xfrm>
            <a:off x="685800" y="1627632"/>
            <a:ext cx="10817352" cy="1097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112264"/>
            <a:ext cx="1554480" cy="320040"/>
          </a:xfrm>
          <a:prstGeom prst="rect">
            <a:avLst/>
          </a:prstGeom>
          <a:noFill/>
        </p:spPr>
        <p:txBody>
          <a:bodyPr wrap="square" lIns="0" rIns="0" tIns="0" bIns="0">
            <a:spAutoFit/>
          </a:bodyPr>
          <a:lstStyle/>
          <a:p>
            <a:pPr algn="l">
              <a:lnSpc>
                <a:spcPct val="125000"/>
              </a:lnSpc>
              <a:spcAft>
                <a:spcPts val="600"/>
              </a:spcAft>
            </a:pPr>
            <a:r>
              <a:rPr sz="1250" b="0">
                <a:solidFill>
                  <a:srgbClr val="0D6F68"/>
                </a:solidFill>
                <a:latin typeface="Consolas"/>
              </a:rPr>
              <a:t>model</a:t>
            </a:r>
          </a:p>
        </p:txBody>
      </p:sp>
      <p:sp>
        <p:nvSpPr>
          <p:cNvPr id="7" name="TextBox 6"/>
          <p:cNvSpPr txBox="1"/>
          <p:nvPr/>
        </p:nvSpPr>
        <p:spPr>
          <a:xfrm>
            <a:off x="2377440" y="2112264"/>
            <a:ext cx="9052560" cy="411480"/>
          </a:xfrm>
          <a:prstGeom prst="rect">
            <a:avLst/>
          </a:prstGeom>
          <a:noFill/>
        </p:spPr>
        <p:txBody>
          <a:bodyPr wrap="square" lIns="0" rIns="0" tIns="0" bIns="0">
            <a:spAutoFit/>
          </a:bodyPr>
          <a:lstStyle/>
          <a:p>
            <a:pPr algn="l">
              <a:lnSpc>
                <a:spcPct val="125000"/>
              </a:lnSpc>
              <a:spcAft>
                <a:spcPts val="600"/>
              </a:spcAft>
            </a:pPr>
            <a:r>
              <a:rPr sz="1350" b="0">
                <a:solidFill>
                  <a:srgbClr val="12191D"/>
                </a:solidFill>
                <a:latin typeface="Segoe UI"/>
              </a:rPr>
              <a:t>Qwen/Qwen2.5-1.5B — 28 lớp, d=1536, 12 head, 2 KV head, ffn=8960</a:t>
            </a:r>
          </a:p>
        </p:txBody>
      </p:sp>
      <p:sp>
        <p:nvSpPr>
          <p:cNvPr id="8" name="Rectangle 7"/>
          <p:cNvSpPr/>
          <p:nvPr/>
        </p:nvSpPr>
        <p:spPr>
          <a:xfrm>
            <a:off x="685800" y="2496312"/>
            <a:ext cx="10817352" cy="7315"/>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587752"/>
            <a:ext cx="1554480" cy="320040"/>
          </a:xfrm>
          <a:prstGeom prst="rect">
            <a:avLst/>
          </a:prstGeom>
          <a:noFill/>
        </p:spPr>
        <p:txBody>
          <a:bodyPr wrap="square" lIns="0" rIns="0" tIns="0" bIns="0">
            <a:spAutoFit/>
          </a:bodyPr>
          <a:lstStyle/>
          <a:p>
            <a:pPr algn="l">
              <a:lnSpc>
                <a:spcPct val="125000"/>
              </a:lnSpc>
              <a:spcAft>
                <a:spcPts val="600"/>
              </a:spcAft>
            </a:pPr>
            <a:r>
              <a:rPr sz="1250" b="0">
                <a:solidFill>
                  <a:srgbClr val="0D6F68"/>
                </a:solidFill>
                <a:latin typeface="Consolas"/>
              </a:rPr>
              <a:t>targets</a:t>
            </a:r>
          </a:p>
        </p:txBody>
      </p:sp>
      <p:sp>
        <p:nvSpPr>
          <p:cNvPr id="10" name="TextBox 9"/>
          <p:cNvSpPr txBox="1"/>
          <p:nvPr/>
        </p:nvSpPr>
        <p:spPr>
          <a:xfrm>
            <a:off x="2377440" y="2587752"/>
            <a:ext cx="9052560" cy="411480"/>
          </a:xfrm>
          <a:prstGeom prst="rect">
            <a:avLst/>
          </a:prstGeom>
          <a:noFill/>
        </p:spPr>
        <p:txBody>
          <a:bodyPr wrap="square" lIns="0" rIns="0" tIns="0" bIns="0">
            <a:spAutoFit/>
          </a:bodyPr>
          <a:lstStyle/>
          <a:p>
            <a:pPr algn="l">
              <a:lnSpc>
                <a:spcPct val="125000"/>
              </a:lnSpc>
              <a:spcAft>
                <a:spcPts val="600"/>
              </a:spcAft>
            </a:pPr>
            <a:r>
              <a:rPr sz="1350" b="0">
                <a:solidFill>
                  <a:srgbClr val="12191D"/>
                </a:solidFill>
                <a:latin typeface="Segoe UI"/>
              </a:rPr>
              <a:t>self_attn.k_proj, self_attn.v_proj — W là 256×1536, a = 6</a:t>
            </a:r>
          </a:p>
        </p:txBody>
      </p:sp>
      <p:sp>
        <p:nvSpPr>
          <p:cNvPr id="11" name="Rectangle 10"/>
          <p:cNvSpPr/>
          <p:nvPr/>
        </p:nvSpPr>
        <p:spPr>
          <a:xfrm>
            <a:off x="685800" y="2971800"/>
            <a:ext cx="10817352" cy="7315"/>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063240"/>
            <a:ext cx="1554480" cy="320040"/>
          </a:xfrm>
          <a:prstGeom prst="rect">
            <a:avLst/>
          </a:prstGeom>
          <a:noFill/>
        </p:spPr>
        <p:txBody>
          <a:bodyPr wrap="square" lIns="0" rIns="0" tIns="0" bIns="0">
            <a:spAutoFit/>
          </a:bodyPr>
          <a:lstStyle/>
          <a:p>
            <a:pPr algn="l">
              <a:lnSpc>
                <a:spcPct val="125000"/>
              </a:lnSpc>
              <a:spcAft>
                <a:spcPts val="600"/>
              </a:spcAft>
            </a:pPr>
            <a:r>
              <a:rPr sz="1250" b="0">
                <a:solidFill>
                  <a:srgbClr val="0D6F68"/>
                </a:solidFill>
                <a:latin typeface="Consolas"/>
              </a:rPr>
              <a:t>dữ liệu</a:t>
            </a:r>
          </a:p>
        </p:txBody>
      </p:sp>
      <p:sp>
        <p:nvSpPr>
          <p:cNvPr id="13" name="TextBox 12"/>
          <p:cNvSpPr txBox="1"/>
          <p:nvPr/>
        </p:nvSpPr>
        <p:spPr>
          <a:xfrm>
            <a:off x="2377440" y="3063240"/>
            <a:ext cx="9052560" cy="411480"/>
          </a:xfrm>
          <a:prstGeom prst="rect">
            <a:avLst/>
          </a:prstGeom>
          <a:noFill/>
        </p:spPr>
        <p:txBody>
          <a:bodyPr wrap="square" lIns="0" rIns="0" tIns="0" bIns="0">
            <a:spAutoFit/>
          </a:bodyPr>
          <a:lstStyle/>
          <a:p>
            <a:pPr algn="l">
              <a:lnSpc>
                <a:spcPct val="125000"/>
              </a:lnSpc>
              <a:spcAft>
                <a:spcPts val="600"/>
              </a:spcAft>
            </a:pPr>
            <a:r>
              <a:rPr sz="1350" b="0">
                <a:solidFill>
                  <a:srgbClr val="12191D"/>
                </a:solidFill>
                <a:latin typeface="Segoe UI"/>
              </a:rPr>
              <a:t>E2E NLG — 42,061 train / 4,672 val / 630 MR test</a:t>
            </a:r>
          </a:p>
        </p:txBody>
      </p:sp>
      <p:sp>
        <p:nvSpPr>
          <p:cNvPr id="14" name="Rectangle 13"/>
          <p:cNvSpPr/>
          <p:nvPr/>
        </p:nvSpPr>
        <p:spPr>
          <a:xfrm>
            <a:off x="685800" y="3447288"/>
            <a:ext cx="10817352" cy="7315"/>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538728"/>
            <a:ext cx="1554480" cy="320040"/>
          </a:xfrm>
          <a:prstGeom prst="rect">
            <a:avLst/>
          </a:prstGeom>
          <a:noFill/>
        </p:spPr>
        <p:txBody>
          <a:bodyPr wrap="square" lIns="0" rIns="0" tIns="0" bIns="0">
            <a:spAutoFit/>
          </a:bodyPr>
          <a:lstStyle/>
          <a:p>
            <a:pPr algn="l">
              <a:lnSpc>
                <a:spcPct val="125000"/>
              </a:lnSpc>
              <a:spcAft>
                <a:spcPts val="600"/>
              </a:spcAft>
            </a:pPr>
            <a:r>
              <a:rPr sz="1250" b="0">
                <a:solidFill>
                  <a:srgbClr val="0D6F68"/>
                </a:solidFill>
                <a:latin typeface="Consolas"/>
              </a:rPr>
              <a:t>train</a:t>
            </a:r>
          </a:p>
        </p:txBody>
      </p:sp>
      <p:sp>
        <p:nvSpPr>
          <p:cNvPr id="16" name="TextBox 15"/>
          <p:cNvSpPr txBox="1"/>
          <p:nvPr/>
        </p:nvSpPr>
        <p:spPr>
          <a:xfrm>
            <a:off x="2377440" y="3538728"/>
            <a:ext cx="9052560" cy="411480"/>
          </a:xfrm>
          <a:prstGeom prst="rect">
            <a:avLst/>
          </a:prstGeom>
          <a:noFill/>
        </p:spPr>
        <p:txBody>
          <a:bodyPr wrap="square" lIns="0" rIns="0" tIns="0" bIns="0">
            <a:spAutoFit/>
          </a:bodyPr>
          <a:lstStyle/>
          <a:p>
            <a:pPr algn="l">
              <a:lnSpc>
                <a:spcPct val="125000"/>
              </a:lnSpc>
              <a:spcAft>
                <a:spcPts val="600"/>
              </a:spcAft>
            </a:pPr>
            <a:r>
              <a:rPr sz="1350" b="0">
                <a:solidFill>
                  <a:srgbClr val="12191D"/>
                </a:solidFill>
                <a:latin typeface="Segoe UI"/>
              </a:rPr>
              <a:t>5 epoch, batch 8, AdamW lr 2e-4, linear + 500 warmup, label smoothing 0.1, weight decay 0.01</a:t>
            </a:r>
          </a:p>
        </p:txBody>
      </p:sp>
      <p:sp>
        <p:nvSpPr>
          <p:cNvPr id="17" name="Rectangle 16"/>
          <p:cNvSpPr/>
          <p:nvPr/>
        </p:nvSpPr>
        <p:spPr>
          <a:xfrm>
            <a:off x="685800" y="3922776"/>
            <a:ext cx="10817352" cy="7315"/>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014216"/>
            <a:ext cx="1554480" cy="320040"/>
          </a:xfrm>
          <a:prstGeom prst="rect">
            <a:avLst/>
          </a:prstGeom>
          <a:noFill/>
        </p:spPr>
        <p:txBody>
          <a:bodyPr wrap="square" lIns="0" rIns="0" tIns="0" bIns="0">
            <a:spAutoFit/>
          </a:bodyPr>
          <a:lstStyle/>
          <a:p>
            <a:pPr algn="l">
              <a:lnSpc>
                <a:spcPct val="125000"/>
              </a:lnSpc>
              <a:spcAft>
                <a:spcPts val="600"/>
              </a:spcAft>
            </a:pPr>
            <a:r>
              <a:rPr sz="1250" b="0">
                <a:solidFill>
                  <a:srgbClr val="0D6F68"/>
                </a:solidFill>
                <a:latin typeface="Consolas"/>
              </a:rPr>
              <a:t>chọn epoch</a:t>
            </a:r>
          </a:p>
        </p:txBody>
      </p:sp>
      <p:sp>
        <p:nvSpPr>
          <p:cNvPr id="19" name="TextBox 18"/>
          <p:cNvSpPr txBox="1"/>
          <p:nvPr/>
        </p:nvSpPr>
        <p:spPr>
          <a:xfrm>
            <a:off x="2377440" y="4014216"/>
            <a:ext cx="9052560" cy="411480"/>
          </a:xfrm>
          <a:prstGeom prst="rect">
            <a:avLst/>
          </a:prstGeom>
          <a:noFill/>
        </p:spPr>
        <p:txBody>
          <a:bodyPr wrap="square" lIns="0" rIns="0" tIns="0" bIns="0">
            <a:spAutoFit/>
          </a:bodyPr>
          <a:lstStyle/>
          <a:p>
            <a:pPr algn="l">
              <a:lnSpc>
                <a:spcPct val="125000"/>
              </a:lnSpc>
              <a:spcAft>
                <a:spcPts val="600"/>
              </a:spcAft>
            </a:pPr>
            <a:r>
              <a:rPr sz="1350" b="0">
                <a:solidFill>
                  <a:srgbClr val="12191D"/>
                </a:solidFill>
                <a:latin typeface="Segoe UI"/>
              </a:rPr>
              <a:t>theo val loss, không smoothing</a:t>
            </a:r>
          </a:p>
        </p:txBody>
      </p:sp>
      <p:sp>
        <p:nvSpPr>
          <p:cNvPr id="20" name="Rectangle 19"/>
          <p:cNvSpPr/>
          <p:nvPr/>
        </p:nvSpPr>
        <p:spPr>
          <a:xfrm>
            <a:off x="685800" y="4398264"/>
            <a:ext cx="10817352" cy="7315"/>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489704"/>
            <a:ext cx="1554480" cy="320040"/>
          </a:xfrm>
          <a:prstGeom prst="rect">
            <a:avLst/>
          </a:prstGeom>
          <a:noFill/>
        </p:spPr>
        <p:txBody>
          <a:bodyPr wrap="square" lIns="0" rIns="0" tIns="0" bIns="0">
            <a:spAutoFit/>
          </a:bodyPr>
          <a:lstStyle/>
          <a:p>
            <a:pPr algn="l">
              <a:lnSpc>
                <a:spcPct val="125000"/>
              </a:lnSpc>
              <a:spcAft>
                <a:spcPts val="600"/>
              </a:spcAft>
            </a:pPr>
            <a:r>
              <a:rPr sz="1250" b="0">
                <a:solidFill>
                  <a:srgbClr val="0D6F68"/>
                </a:solidFill>
                <a:latin typeface="Consolas"/>
              </a:rPr>
              <a:t>sinh câu</a:t>
            </a:r>
          </a:p>
        </p:txBody>
      </p:sp>
      <p:sp>
        <p:nvSpPr>
          <p:cNvPr id="22" name="TextBox 21"/>
          <p:cNvSpPr txBox="1"/>
          <p:nvPr/>
        </p:nvSpPr>
        <p:spPr>
          <a:xfrm>
            <a:off x="2377440" y="4489704"/>
            <a:ext cx="9052560" cy="411480"/>
          </a:xfrm>
          <a:prstGeom prst="rect">
            <a:avLst/>
          </a:prstGeom>
          <a:noFill/>
        </p:spPr>
        <p:txBody>
          <a:bodyPr wrap="square" lIns="0" rIns="0" tIns="0" bIns="0">
            <a:spAutoFit/>
          </a:bodyPr>
          <a:lstStyle/>
          <a:p>
            <a:pPr algn="l">
              <a:lnSpc>
                <a:spcPct val="125000"/>
              </a:lnSpc>
              <a:spcAft>
                <a:spcPts val="600"/>
              </a:spcAft>
            </a:pPr>
            <a:r>
              <a:rPr sz="1350" b="0">
                <a:solidFill>
                  <a:srgbClr val="12191D"/>
                </a:solidFill>
                <a:latin typeface="Segoe UI"/>
              </a:rPr>
              <a:t>beam 10, length penalty 0.9, no_repeat_ngram 4</a:t>
            </a:r>
          </a:p>
        </p:txBody>
      </p:sp>
      <p:sp>
        <p:nvSpPr>
          <p:cNvPr id="23" name="Rectangle 22"/>
          <p:cNvSpPr/>
          <p:nvPr/>
        </p:nvSpPr>
        <p:spPr>
          <a:xfrm>
            <a:off x="685800" y="4873752"/>
            <a:ext cx="10817352" cy="7315"/>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965192"/>
            <a:ext cx="1554480" cy="320040"/>
          </a:xfrm>
          <a:prstGeom prst="rect">
            <a:avLst/>
          </a:prstGeom>
          <a:noFill/>
        </p:spPr>
        <p:txBody>
          <a:bodyPr wrap="square" lIns="0" rIns="0" tIns="0" bIns="0">
            <a:spAutoFit/>
          </a:bodyPr>
          <a:lstStyle/>
          <a:p>
            <a:pPr algn="l">
              <a:lnSpc>
                <a:spcPct val="125000"/>
              </a:lnSpc>
              <a:spcAft>
                <a:spcPts val="600"/>
              </a:spcAft>
            </a:pPr>
            <a:r>
              <a:rPr sz="1250" b="0">
                <a:solidFill>
                  <a:srgbClr val="0D6F68"/>
                </a:solidFill>
                <a:latin typeface="Consolas"/>
              </a:rPr>
              <a:t>môi trường</a:t>
            </a:r>
          </a:p>
        </p:txBody>
      </p:sp>
      <p:sp>
        <p:nvSpPr>
          <p:cNvPr id="25" name="TextBox 24"/>
          <p:cNvSpPr txBox="1"/>
          <p:nvPr/>
        </p:nvSpPr>
        <p:spPr>
          <a:xfrm>
            <a:off x="2377440" y="4965192"/>
            <a:ext cx="9052560" cy="411480"/>
          </a:xfrm>
          <a:prstGeom prst="rect">
            <a:avLst/>
          </a:prstGeom>
          <a:noFill/>
        </p:spPr>
        <p:txBody>
          <a:bodyPr wrap="square" lIns="0" rIns="0" tIns="0" bIns="0">
            <a:spAutoFit/>
          </a:bodyPr>
          <a:lstStyle/>
          <a:p>
            <a:pPr algn="l">
              <a:lnSpc>
                <a:spcPct val="125000"/>
              </a:lnSpc>
              <a:spcAft>
                <a:spcPts val="600"/>
              </a:spcAft>
            </a:pPr>
            <a:r>
              <a:rPr sz="1350" b="0">
                <a:solidFill>
                  <a:srgbClr val="12191D"/>
                </a:solidFill>
                <a:latin typeface="Segoe UI"/>
              </a:rPr>
              <a:t>NVIDIA A10 · torch 2.7.0 · transformers 5.15.1 · fp32 + TF32</a:t>
            </a:r>
          </a:p>
        </p:txBody>
      </p:sp>
      <p:sp>
        <p:nvSpPr>
          <p:cNvPr id="26" name="Rectangle 25"/>
          <p:cNvSpPr/>
          <p:nvPr/>
        </p:nvSpPr>
        <p:spPr>
          <a:xfrm>
            <a:off x="685800" y="5349240"/>
            <a:ext cx="10817352" cy="7315"/>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678424"/>
            <a:ext cx="10881360" cy="548640"/>
          </a:xfrm>
          <a:prstGeom prst="rect">
            <a:avLst/>
          </a:prstGeom>
          <a:noFill/>
        </p:spPr>
        <p:txBody>
          <a:bodyPr wrap="square" lIns="0" rIns="0" tIns="0" bIns="0">
            <a:spAutoFit/>
          </a:bodyPr>
          <a:lstStyle/>
          <a:p>
            <a:pPr algn="l">
              <a:lnSpc>
                <a:spcPct val="125000"/>
              </a:lnSpc>
              <a:spcAft>
                <a:spcPts val="600"/>
              </a:spcAft>
            </a:pPr>
            <a:r>
              <a:rPr sz="1400" b="1">
                <a:solidFill>
                  <a:srgbClr val="12191D"/>
                </a:solidFill>
                <a:latin typeface="Segoe UI"/>
              </a:rPr>
              <a:t>Tái lập được từng bit. </a:t>
            </a:r>
            <a:r>
              <a:rPr sz="1400" b="0">
                <a:solidFill>
                  <a:srgbClr val="54636C"/>
                </a:solidFill>
                <a:latin typeface="Segoe UI"/>
              </a:rPr>
              <a:t>Chạy lại cùng seed trên cùng loại GPU cho kết quả giống hệt — đã kiểm chứng bằng hai lần chạy độc lập, ba máy A10 chung driver và phiên bản thư viện đã ghim.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515600" cy="274320"/>
          </a:xfrm>
          <a:prstGeom prst="rect">
            <a:avLst/>
          </a:prstGeom>
          <a:noFill/>
        </p:spPr>
        <p:txBody>
          <a:bodyPr wrap="square" lIns="0" rIns="0" tIns="0" bIns="0">
            <a:spAutoFit/>
          </a:bodyPr>
          <a:lstStyle/>
          <a:p>
            <a:pPr algn="l">
              <a:lnSpc>
                <a:spcPct val="125000"/>
              </a:lnSpc>
              <a:spcAft>
                <a:spcPts val="600"/>
              </a:spcAft>
            </a:pPr>
            <a:r>
              <a:rPr sz="1050" b="1">
                <a:solidFill>
                  <a:srgbClr val="0D6F68"/>
                </a:solidFill>
                <a:latin typeface="Consolas"/>
              </a:rPr>
              <a:t>KẾT QUẢ</a:t>
            </a:r>
          </a:p>
        </p:txBody>
      </p:sp>
      <p:sp>
        <p:nvSpPr>
          <p:cNvPr id="4" name="TextBox 3"/>
          <p:cNvSpPr txBox="1"/>
          <p:nvPr/>
        </p:nvSpPr>
        <p:spPr>
          <a:xfrm>
            <a:off x="685800" y="777240"/>
            <a:ext cx="10881360" cy="731520"/>
          </a:xfrm>
          <a:prstGeom prst="rect">
            <a:avLst/>
          </a:prstGeom>
          <a:noFill/>
        </p:spPr>
        <p:txBody>
          <a:bodyPr wrap="square" lIns="0" rIns="0" tIns="0" bIns="0">
            <a:spAutoFit/>
          </a:bodyPr>
          <a:lstStyle/>
          <a:p>
            <a:pPr algn="l">
              <a:lnSpc>
                <a:spcPct val="105000"/>
              </a:lnSpc>
              <a:spcAft>
                <a:spcPts val="600"/>
              </a:spcAft>
            </a:pPr>
            <a:r>
              <a:rPr sz="3000" b="0">
                <a:solidFill>
                  <a:srgbClr val="12191D"/>
                </a:solidFill>
                <a:latin typeface="Georgia"/>
              </a:rPr>
              <a:t>Đường Pareto: chất lượng theo ngân sách</a:t>
            </a:r>
          </a:p>
        </p:txBody>
      </p:sp>
      <p:sp>
        <p:nvSpPr>
          <p:cNvPr id="5" name="Rectangle 4"/>
          <p:cNvSpPr/>
          <p:nvPr/>
        </p:nvSpPr>
        <p:spPr>
          <a:xfrm>
            <a:off x="685800" y="1627632"/>
            <a:ext cx="10817352" cy="1097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pareto.png"/>
          <p:cNvPicPr>
            <a:picLocks noChangeAspect="1"/>
          </p:cNvPicPr>
          <p:nvPr/>
        </p:nvPicPr>
        <p:blipFill>
          <a:blip r:embed="rId2"/>
          <a:stretch>
            <a:fillRect/>
          </a:stretch>
        </p:blipFill>
        <p:spPr>
          <a:xfrm>
            <a:off x="1417320" y="1975104"/>
            <a:ext cx="8151222" cy="4160520"/>
          </a:xfrm>
          <a:prstGeom prst="rect">
            <a:avLst/>
          </a:prstGeom>
        </p:spPr>
      </p:pic>
      <p:sp>
        <p:nvSpPr>
          <p:cNvPr id="7" name="TextBox 6"/>
          <p:cNvSpPr txBox="1"/>
          <p:nvPr/>
        </p:nvSpPr>
        <p:spPr>
          <a:xfrm>
            <a:off x="685800" y="6227064"/>
            <a:ext cx="10881360" cy="457200"/>
          </a:xfrm>
          <a:prstGeom prst="rect">
            <a:avLst/>
          </a:prstGeom>
          <a:noFill/>
        </p:spPr>
        <p:txBody>
          <a:bodyPr wrap="square" lIns="0" rIns="0" tIns="0" bIns="0">
            <a:spAutoFit/>
          </a:bodyPr>
          <a:lstStyle/>
          <a:p>
            <a:pPr algn="l">
              <a:lnSpc>
                <a:spcPct val="125000"/>
              </a:lnSpc>
              <a:spcAft>
                <a:spcPts val="600"/>
              </a:spcAft>
            </a:pPr>
            <a:r>
              <a:rPr sz="1450" b="1">
                <a:solidFill>
                  <a:srgbClr val="12191D"/>
                </a:solidFill>
                <a:latin typeface="Segoe UI"/>
              </a:rPr>
              <a:t>S-LoRA chạm 65.22 BLEU ở 0.057 M. LoRA cần 0.803 M — nhiều hơn 14 lần — mới vượt qua (65.61). </a:t>
            </a:r>
            <a:r>
              <a:rPr sz="1450" b="0">
                <a:solidFill>
                  <a:srgbClr val="54636C"/>
                </a:solidFill>
                <a:latin typeface="Segoe UI"/>
              </a:rPr>
              <a:t>Hai đường hội tụ quanh 65.7 khi ngân sách đủ lớn.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515600" cy="274320"/>
          </a:xfrm>
          <a:prstGeom prst="rect">
            <a:avLst/>
          </a:prstGeom>
          <a:noFill/>
        </p:spPr>
        <p:txBody>
          <a:bodyPr wrap="square" lIns="0" rIns="0" tIns="0" bIns="0">
            <a:spAutoFit/>
          </a:bodyPr>
          <a:lstStyle/>
          <a:p>
            <a:pPr algn="l">
              <a:lnSpc>
                <a:spcPct val="125000"/>
              </a:lnSpc>
              <a:spcAft>
                <a:spcPts val="600"/>
              </a:spcAft>
            </a:pPr>
            <a:r>
              <a:rPr sz="1050" b="1">
                <a:solidFill>
                  <a:srgbClr val="0D6F68"/>
                </a:solidFill>
                <a:latin typeface="Consolas"/>
              </a:rPr>
              <a:t>KẾT QUẢ</a:t>
            </a:r>
          </a:p>
        </p:txBody>
      </p:sp>
      <p:sp>
        <p:nvSpPr>
          <p:cNvPr id="4" name="TextBox 3"/>
          <p:cNvSpPr txBox="1"/>
          <p:nvPr/>
        </p:nvSpPr>
        <p:spPr>
          <a:xfrm>
            <a:off x="685800" y="777240"/>
            <a:ext cx="10881360" cy="731520"/>
          </a:xfrm>
          <a:prstGeom prst="rect">
            <a:avLst/>
          </a:prstGeom>
          <a:noFill/>
        </p:spPr>
        <p:txBody>
          <a:bodyPr wrap="square" lIns="0" rIns="0" tIns="0" bIns="0">
            <a:spAutoFit/>
          </a:bodyPr>
          <a:lstStyle/>
          <a:p>
            <a:pPr algn="l">
              <a:lnSpc>
                <a:spcPct val="105000"/>
              </a:lnSpc>
              <a:spcAft>
                <a:spcPts val="600"/>
              </a:spcAft>
            </a:pPr>
            <a:r>
              <a:rPr sz="3000" b="0">
                <a:solidFill>
                  <a:srgbClr val="12191D"/>
                </a:solidFill>
                <a:latin typeface="Georgia"/>
              </a:rPr>
              <a:t>Chất lượng theo rank</a:t>
            </a:r>
          </a:p>
        </p:txBody>
      </p:sp>
      <p:sp>
        <p:nvSpPr>
          <p:cNvPr id="5" name="TextBox 4"/>
          <p:cNvSpPr txBox="1"/>
          <p:nvPr/>
        </p:nvSpPr>
        <p:spPr>
          <a:xfrm>
            <a:off x="685800" y="1572768"/>
            <a:ext cx="10881360" cy="365760"/>
          </a:xfrm>
          <a:prstGeom prst="rect">
            <a:avLst/>
          </a:prstGeom>
          <a:noFill/>
        </p:spPr>
        <p:txBody>
          <a:bodyPr wrap="square" lIns="0" rIns="0" tIns="0" bIns="0">
            <a:spAutoFit/>
          </a:bodyPr>
          <a:lstStyle/>
          <a:p>
            <a:pPr algn="l">
              <a:lnSpc>
                <a:spcPct val="125000"/>
              </a:lnSpc>
              <a:spcAft>
                <a:spcPts val="600"/>
              </a:spcAft>
            </a:pPr>
            <a:r>
              <a:rPr sz="1350" b="0">
                <a:solidFill>
                  <a:srgbClr val="54636C"/>
                </a:solidFill>
                <a:latin typeface="Segoe UI"/>
              </a:rPr>
              <a:t>Trung bình ± độ lệch chuẩn qua các seed.</a:t>
            </a:r>
          </a:p>
        </p:txBody>
      </p:sp>
      <p:sp>
        <p:nvSpPr>
          <p:cNvPr id="6" name="Rectangle 5"/>
          <p:cNvSpPr/>
          <p:nvPr/>
        </p:nvSpPr>
        <p:spPr>
          <a:xfrm>
            <a:off x="685800" y="2084831"/>
            <a:ext cx="10817352" cy="1097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1371600" y="2523744"/>
          <a:ext cx="9418317" cy="3744468"/>
        </p:xfrm>
        <a:graphic>
          <a:graphicData uri="http://schemas.openxmlformats.org/drawingml/2006/table">
            <a:tbl>
              <a:tblPr firstRow="1">
                <a:tableStyleId>{5C22544A-7EE6-4342-B048-85BDC9FD1C3A}</a:tableStyleId>
              </a:tblPr>
              <a:tblGrid>
                <a:gridCol w="1456441"/>
                <a:gridCol w="582576"/>
                <a:gridCol w="1456441"/>
                <a:gridCol w="582576"/>
                <a:gridCol w="1941921"/>
                <a:gridCol w="1941921"/>
                <a:gridCol w="1456441"/>
              </a:tblGrid>
              <a:tr h="315468">
                <a:tc>
                  <a:txBody>
                    <a:bodyPr wrap="square"/>
                    <a:lstStyle/>
                    <a:p>
                      <a:pPr algn="l"/>
                      <a:r>
                        <a:rPr sz="1050" b="1">
                          <a:solidFill>
                            <a:srgbClr val="7D8B94"/>
                          </a:solidFill>
                          <a:latin typeface="Consolas"/>
                        </a:rPr>
                        <a:t>method</a:t>
                      </a:r>
                    </a:p>
                  </a:txBody>
                  <a:tcPr marL="82296" marR="82296" marT="27432" marB="27432">
                    <a:solidFill>
                      <a:srgbClr val="F5F7F8"/>
                    </a:solidFill>
                  </a:tcPr>
                </a:tc>
                <a:tc>
                  <a:txBody>
                    <a:bodyPr wrap="square"/>
                    <a:lstStyle/>
                    <a:p>
                      <a:pPr algn="r"/>
                      <a:r>
                        <a:rPr sz="1050" b="1">
                          <a:solidFill>
                            <a:srgbClr val="7D8B94"/>
                          </a:solidFill>
                          <a:latin typeface="Consolas"/>
                        </a:rPr>
                        <a:t>r</a:t>
                      </a:r>
                    </a:p>
                  </a:txBody>
                  <a:tcPr marL="82296" marR="82296" marT="27432" marB="27432">
                    <a:solidFill>
                      <a:srgbClr val="F5F7F8"/>
                    </a:solidFill>
                  </a:tcPr>
                </a:tc>
                <a:tc>
                  <a:txBody>
                    <a:bodyPr wrap="square"/>
                    <a:lstStyle/>
                    <a:p>
                      <a:pPr algn="r"/>
                      <a:r>
                        <a:rPr sz="1050" b="1">
                          <a:solidFill>
                            <a:srgbClr val="7D8B94"/>
                          </a:solidFill>
                          <a:latin typeface="Consolas"/>
                        </a:rPr>
                        <a:t>params (M)</a:t>
                      </a:r>
                    </a:p>
                  </a:txBody>
                  <a:tcPr marL="82296" marR="82296" marT="27432" marB="27432">
                    <a:solidFill>
                      <a:srgbClr val="F5F7F8"/>
                    </a:solidFill>
                  </a:tcPr>
                </a:tc>
                <a:tc>
                  <a:txBody>
                    <a:bodyPr wrap="square"/>
                    <a:lstStyle/>
                    <a:p>
                      <a:pPr algn="r"/>
                      <a:r>
                        <a:rPr sz="1050" b="1">
                          <a:solidFill>
                            <a:srgbClr val="7D8B94"/>
                          </a:solidFill>
                          <a:latin typeface="Consolas"/>
                        </a:rPr>
                        <a:t>n</a:t>
                      </a:r>
                    </a:p>
                  </a:txBody>
                  <a:tcPr marL="82296" marR="82296" marT="27432" marB="27432">
                    <a:solidFill>
                      <a:srgbClr val="F5F7F8"/>
                    </a:solidFill>
                  </a:tcPr>
                </a:tc>
                <a:tc>
                  <a:txBody>
                    <a:bodyPr wrap="square"/>
                    <a:lstStyle/>
                    <a:p>
                      <a:pPr algn="r"/>
                      <a:r>
                        <a:rPr sz="1050" b="1">
                          <a:solidFill>
                            <a:srgbClr val="7D8B94"/>
                          </a:solidFill>
                          <a:latin typeface="Consolas"/>
                        </a:rPr>
                        <a:t>BLEU</a:t>
                      </a:r>
                    </a:p>
                  </a:txBody>
                  <a:tcPr marL="82296" marR="82296" marT="27432" marB="27432">
                    <a:solidFill>
                      <a:srgbClr val="F5F7F8"/>
                    </a:solidFill>
                  </a:tcPr>
                </a:tc>
                <a:tc>
                  <a:txBody>
                    <a:bodyPr wrap="square"/>
                    <a:lstStyle/>
                    <a:p>
                      <a:pPr algn="r"/>
                      <a:r>
                        <a:rPr sz="1050" b="1">
                          <a:solidFill>
                            <a:srgbClr val="7D8B94"/>
                          </a:solidFill>
                          <a:latin typeface="Consolas"/>
                        </a:rPr>
                        <a:t>ROUGE-L</a:t>
                      </a:r>
                    </a:p>
                  </a:txBody>
                  <a:tcPr marL="82296" marR="82296" marT="27432" marB="27432">
                    <a:solidFill>
                      <a:srgbClr val="F5F7F8"/>
                    </a:solidFill>
                  </a:tcPr>
                </a:tc>
                <a:tc>
                  <a:txBody>
                    <a:bodyPr wrap="square"/>
                    <a:lstStyle/>
                    <a:p>
                      <a:pPr algn="r"/>
                      <a:r>
                        <a:rPr sz="1050" b="1">
                          <a:solidFill>
                            <a:srgbClr val="7D8B94"/>
                          </a:solidFill>
                          <a:latin typeface="Consolas"/>
                        </a:rPr>
                        <a:t>val loss</a:t>
                      </a:r>
                    </a:p>
                  </a:txBody>
                  <a:tcPr marL="82296" marR="82296" marT="27432" marB="27432">
                    <a:solidFill>
                      <a:srgbClr val="F5F7F8"/>
                    </a:solidFill>
                  </a:tcPr>
                </a:tc>
              </a:tr>
              <a:tr h="342900">
                <a:tc>
                  <a:txBody>
                    <a:bodyPr wrap="square"/>
                    <a:lstStyle/>
                    <a:p>
                      <a:pPr algn="l"/>
                      <a:r>
                        <a:rPr sz="1150" b="0">
                          <a:solidFill>
                            <a:srgbClr val="0D6F68"/>
                          </a:solidFill>
                          <a:latin typeface="Segoe UI"/>
                        </a:rPr>
                        <a:t>S-LoRA</a:t>
                      </a:r>
                    </a:p>
                  </a:txBody>
                  <a:tcPr marL="82296" marR="82296" marT="27432" marB="27432">
                    <a:solidFill>
                      <a:srgbClr val="FFFFFF"/>
                    </a:solidFill>
                  </a:tcPr>
                </a:tc>
                <a:tc>
                  <a:txBody>
                    <a:bodyPr wrap="square"/>
                    <a:lstStyle/>
                    <a:p>
                      <a:pPr algn="r"/>
                      <a:r>
                        <a:rPr sz="1150" b="0">
                          <a:solidFill>
                            <a:srgbClr val="0D6F68"/>
                          </a:solidFill>
                          <a:latin typeface="Consolas"/>
                        </a:rPr>
                        <a:t>1</a:t>
                      </a:r>
                    </a:p>
                  </a:txBody>
                  <a:tcPr marL="82296" marR="82296" marT="27432" marB="27432">
                    <a:solidFill>
                      <a:srgbClr val="FFFFFF"/>
                    </a:solidFill>
                  </a:tcPr>
                </a:tc>
                <a:tc>
                  <a:txBody>
                    <a:bodyPr wrap="square"/>
                    <a:lstStyle/>
                    <a:p>
                      <a:pPr algn="r"/>
                      <a:r>
                        <a:rPr sz="1150" b="0">
                          <a:solidFill>
                            <a:srgbClr val="0D6F68"/>
                          </a:solidFill>
                          <a:latin typeface="Consolas"/>
                        </a:rPr>
                        <a:t>0.029</a:t>
                      </a:r>
                    </a:p>
                  </a:txBody>
                  <a:tcPr marL="82296" marR="82296" marT="27432" marB="27432">
                    <a:solidFill>
                      <a:srgbClr val="FFFFFF"/>
                    </a:solidFill>
                  </a:tcPr>
                </a:tc>
                <a:tc>
                  <a:txBody>
                    <a:bodyPr wrap="square"/>
                    <a:lstStyle/>
                    <a:p>
                      <a:pPr algn="r"/>
                      <a:r>
                        <a:rPr sz="1150" b="0">
                          <a:solidFill>
                            <a:srgbClr val="0D6F68"/>
                          </a:solidFill>
                          <a:latin typeface="Consolas"/>
                        </a:rPr>
                        <a:t>2</a:t>
                      </a:r>
                    </a:p>
                  </a:txBody>
                  <a:tcPr marL="82296" marR="82296" marT="27432" marB="27432">
                    <a:solidFill>
                      <a:srgbClr val="FFFFFF"/>
                    </a:solidFill>
                  </a:tcPr>
                </a:tc>
                <a:tc>
                  <a:txBody>
                    <a:bodyPr wrap="square"/>
                    <a:lstStyle/>
                    <a:p>
                      <a:pPr algn="r"/>
                      <a:r>
                        <a:rPr sz="1150" b="0">
                          <a:solidFill>
                            <a:srgbClr val="0D6F68"/>
                          </a:solidFill>
                          <a:latin typeface="Consolas"/>
                        </a:rPr>
                        <a:t>62.45 ± 0.33</a:t>
                      </a:r>
                    </a:p>
                  </a:txBody>
                  <a:tcPr marL="82296" marR="82296" marT="27432" marB="27432">
                    <a:solidFill>
                      <a:srgbClr val="FFFFFF"/>
                    </a:solidFill>
                  </a:tcPr>
                </a:tc>
                <a:tc>
                  <a:txBody>
                    <a:bodyPr wrap="square"/>
                    <a:lstStyle/>
                    <a:p>
                      <a:pPr algn="r"/>
                      <a:r>
                        <a:rPr sz="1150" b="0">
                          <a:solidFill>
                            <a:srgbClr val="0D6F68"/>
                          </a:solidFill>
                          <a:latin typeface="Consolas"/>
                        </a:rPr>
                        <a:t>65.03 ± 0.62</a:t>
                      </a:r>
                    </a:p>
                  </a:txBody>
                  <a:tcPr marL="82296" marR="82296" marT="27432" marB="27432">
                    <a:solidFill>
                      <a:srgbClr val="FFFFFF"/>
                    </a:solidFill>
                  </a:tcPr>
                </a:tc>
                <a:tc>
                  <a:txBody>
                    <a:bodyPr wrap="square"/>
                    <a:lstStyle/>
                    <a:p>
                      <a:pPr algn="r"/>
                      <a:r>
                        <a:rPr sz="1150" b="0">
                          <a:solidFill>
                            <a:srgbClr val="0D6F68"/>
                          </a:solidFill>
                          <a:latin typeface="Consolas"/>
                        </a:rPr>
                        <a:t>1.1925</a:t>
                      </a:r>
                    </a:p>
                  </a:txBody>
                  <a:tcPr marL="82296" marR="82296" marT="27432" marB="27432">
                    <a:solidFill>
                      <a:srgbClr val="FFFFFF"/>
                    </a:solidFill>
                  </a:tcPr>
                </a:tc>
              </a:tr>
              <a:tr h="342900">
                <a:tc>
                  <a:txBody>
                    <a:bodyPr wrap="square"/>
                    <a:lstStyle/>
                    <a:p>
                      <a:pPr algn="l"/>
                      <a:r>
                        <a:rPr sz="1150" b="0">
                          <a:solidFill>
                            <a:srgbClr val="0D6F68"/>
                          </a:solidFill>
                          <a:latin typeface="Segoe UI"/>
                        </a:rPr>
                        <a:t>S-LoRA</a:t>
                      </a:r>
                    </a:p>
                  </a:txBody>
                  <a:tcPr marL="82296" marR="82296" marT="27432" marB="27432">
                    <a:solidFill>
                      <a:srgbClr val="FFFFFF"/>
                    </a:solidFill>
                  </a:tcPr>
                </a:tc>
                <a:tc>
                  <a:txBody>
                    <a:bodyPr wrap="square"/>
                    <a:lstStyle/>
                    <a:p>
                      <a:pPr algn="r"/>
                      <a:r>
                        <a:rPr sz="1150" b="0">
                          <a:solidFill>
                            <a:srgbClr val="0D6F68"/>
                          </a:solidFill>
                          <a:latin typeface="Consolas"/>
                        </a:rPr>
                        <a:t>2</a:t>
                      </a:r>
                    </a:p>
                  </a:txBody>
                  <a:tcPr marL="82296" marR="82296" marT="27432" marB="27432">
                    <a:solidFill>
                      <a:srgbClr val="FFFFFF"/>
                    </a:solidFill>
                  </a:tcPr>
                </a:tc>
                <a:tc>
                  <a:txBody>
                    <a:bodyPr wrap="square"/>
                    <a:lstStyle/>
                    <a:p>
                      <a:pPr algn="r"/>
                      <a:r>
                        <a:rPr sz="1150" b="0">
                          <a:solidFill>
                            <a:srgbClr val="0D6F68"/>
                          </a:solidFill>
                          <a:latin typeface="Consolas"/>
                        </a:rPr>
                        <a:t>0.057</a:t>
                      </a:r>
                    </a:p>
                  </a:txBody>
                  <a:tcPr marL="82296" marR="82296" marT="27432" marB="27432">
                    <a:solidFill>
                      <a:srgbClr val="FFFFFF"/>
                    </a:solidFill>
                  </a:tcPr>
                </a:tc>
                <a:tc>
                  <a:txBody>
                    <a:bodyPr wrap="square"/>
                    <a:lstStyle/>
                    <a:p>
                      <a:pPr algn="r"/>
                      <a:r>
                        <a:rPr sz="1150" b="0">
                          <a:solidFill>
                            <a:srgbClr val="0D6F68"/>
                          </a:solidFill>
                          <a:latin typeface="Consolas"/>
                        </a:rPr>
                        <a:t>2</a:t>
                      </a:r>
                    </a:p>
                  </a:txBody>
                  <a:tcPr marL="82296" marR="82296" marT="27432" marB="27432">
                    <a:solidFill>
                      <a:srgbClr val="FFFFFF"/>
                    </a:solidFill>
                  </a:tcPr>
                </a:tc>
                <a:tc>
                  <a:txBody>
                    <a:bodyPr wrap="square"/>
                    <a:lstStyle/>
                    <a:p>
                      <a:pPr algn="r"/>
                      <a:r>
                        <a:rPr sz="1150" b="0">
                          <a:solidFill>
                            <a:srgbClr val="0D6F68"/>
                          </a:solidFill>
                          <a:latin typeface="Consolas"/>
                        </a:rPr>
                        <a:t>65.22 ± 0.22</a:t>
                      </a:r>
                    </a:p>
                  </a:txBody>
                  <a:tcPr marL="82296" marR="82296" marT="27432" marB="27432">
                    <a:solidFill>
                      <a:srgbClr val="FFFFFF"/>
                    </a:solidFill>
                  </a:tcPr>
                </a:tc>
                <a:tc>
                  <a:txBody>
                    <a:bodyPr wrap="square"/>
                    <a:lstStyle/>
                    <a:p>
                      <a:pPr algn="r"/>
                      <a:r>
                        <a:rPr sz="1150" b="0">
                          <a:solidFill>
                            <a:srgbClr val="0D6F68"/>
                          </a:solidFill>
                          <a:latin typeface="Consolas"/>
                        </a:rPr>
                        <a:t>67.41 ± 0.15</a:t>
                      </a:r>
                    </a:p>
                  </a:txBody>
                  <a:tcPr marL="82296" marR="82296" marT="27432" marB="27432">
                    <a:solidFill>
                      <a:srgbClr val="FFFFFF"/>
                    </a:solidFill>
                  </a:tcPr>
                </a:tc>
                <a:tc>
                  <a:txBody>
                    <a:bodyPr wrap="square"/>
                    <a:lstStyle/>
                    <a:p>
                      <a:pPr algn="r"/>
                      <a:r>
                        <a:rPr sz="1150" b="0">
                          <a:solidFill>
                            <a:srgbClr val="0D6F68"/>
                          </a:solidFill>
                          <a:latin typeface="Consolas"/>
                        </a:rPr>
                        <a:t>1.1623</a:t>
                      </a:r>
                    </a:p>
                  </a:txBody>
                  <a:tcPr marL="82296" marR="82296" marT="27432" marB="27432">
                    <a:solidFill>
                      <a:srgbClr val="FFFFFF"/>
                    </a:solidFill>
                  </a:tcPr>
                </a:tc>
              </a:tr>
              <a:tr h="342900">
                <a:tc>
                  <a:txBody>
                    <a:bodyPr wrap="square"/>
                    <a:lstStyle/>
                    <a:p>
                      <a:pPr algn="l"/>
                      <a:r>
                        <a:rPr sz="1150" b="0">
                          <a:solidFill>
                            <a:srgbClr val="0D6F68"/>
                          </a:solidFill>
                          <a:latin typeface="Segoe UI"/>
                        </a:rPr>
                        <a:t>S-LoRA</a:t>
                      </a:r>
                    </a:p>
                  </a:txBody>
                  <a:tcPr marL="82296" marR="82296" marT="27432" marB="27432">
                    <a:solidFill>
                      <a:srgbClr val="FFFFFF"/>
                    </a:solidFill>
                  </a:tcPr>
                </a:tc>
                <a:tc>
                  <a:txBody>
                    <a:bodyPr wrap="square"/>
                    <a:lstStyle/>
                    <a:p>
                      <a:pPr algn="r"/>
                      <a:r>
                        <a:rPr sz="1150" b="0">
                          <a:solidFill>
                            <a:srgbClr val="0D6F68"/>
                          </a:solidFill>
                          <a:latin typeface="Consolas"/>
                        </a:rPr>
                        <a:t>4</a:t>
                      </a:r>
                    </a:p>
                  </a:txBody>
                  <a:tcPr marL="82296" marR="82296" marT="27432" marB="27432">
                    <a:solidFill>
                      <a:srgbClr val="FFFFFF"/>
                    </a:solidFill>
                  </a:tcPr>
                </a:tc>
                <a:tc>
                  <a:txBody>
                    <a:bodyPr wrap="square"/>
                    <a:lstStyle/>
                    <a:p>
                      <a:pPr algn="r"/>
                      <a:r>
                        <a:rPr sz="1150" b="0">
                          <a:solidFill>
                            <a:srgbClr val="0D6F68"/>
                          </a:solidFill>
                          <a:latin typeface="Consolas"/>
                        </a:rPr>
                        <a:t>0.115</a:t>
                      </a:r>
                    </a:p>
                  </a:txBody>
                  <a:tcPr marL="82296" marR="82296" marT="27432" marB="27432">
                    <a:solidFill>
                      <a:srgbClr val="FFFFFF"/>
                    </a:solidFill>
                  </a:tcPr>
                </a:tc>
                <a:tc>
                  <a:txBody>
                    <a:bodyPr wrap="square"/>
                    <a:lstStyle/>
                    <a:p>
                      <a:pPr algn="r"/>
                      <a:r>
                        <a:rPr sz="1150" b="0">
                          <a:solidFill>
                            <a:srgbClr val="0D6F68"/>
                          </a:solidFill>
                          <a:latin typeface="Consolas"/>
                        </a:rPr>
                        <a:t>3</a:t>
                      </a:r>
                    </a:p>
                  </a:txBody>
                  <a:tcPr marL="82296" marR="82296" marT="27432" marB="27432">
                    <a:solidFill>
                      <a:srgbClr val="FFFFFF"/>
                    </a:solidFill>
                  </a:tcPr>
                </a:tc>
                <a:tc>
                  <a:txBody>
                    <a:bodyPr wrap="square"/>
                    <a:lstStyle/>
                    <a:p>
                      <a:pPr algn="r"/>
                      <a:r>
                        <a:rPr sz="1150" b="0">
                          <a:solidFill>
                            <a:srgbClr val="0D6F68"/>
                          </a:solidFill>
                          <a:latin typeface="Consolas"/>
                        </a:rPr>
                        <a:t>65.53 ± 0.14</a:t>
                      </a:r>
                    </a:p>
                  </a:txBody>
                  <a:tcPr marL="82296" marR="82296" marT="27432" marB="27432">
                    <a:solidFill>
                      <a:srgbClr val="FFFFFF"/>
                    </a:solidFill>
                  </a:tcPr>
                </a:tc>
                <a:tc>
                  <a:txBody>
                    <a:bodyPr wrap="square"/>
                    <a:lstStyle/>
                    <a:p>
                      <a:pPr algn="r"/>
                      <a:r>
                        <a:rPr sz="1150" b="0">
                          <a:solidFill>
                            <a:srgbClr val="0D6F68"/>
                          </a:solidFill>
                          <a:latin typeface="Consolas"/>
                        </a:rPr>
                        <a:t>67.98 ± 0.20</a:t>
                      </a:r>
                    </a:p>
                  </a:txBody>
                  <a:tcPr marL="82296" marR="82296" marT="27432" marB="27432">
                    <a:solidFill>
                      <a:srgbClr val="FFFFFF"/>
                    </a:solidFill>
                  </a:tcPr>
                </a:tc>
                <a:tc>
                  <a:txBody>
                    <a:bodyPr wrap="square"/>
                    <a:lstStyle/>
                    <a:p>
                      <a:pPr algn="r"/>
                      <a:r>
                        <a:rPr sz="1150" b="0">
                          <a:solidFill>
                            <a:srgbClr val="0D6F68"/>
                          </a:solidFill>
                          <a:latin typeface="Consolas"/>
                        </a:rPr>
                        <a:t>1.1441</a:t>
                      </a:r>
                    </a:p>
                  </a:txBody>
                  <a:tcPr marL="82296" marR="82296" marT="27432" marB="27432">
                    <a:solidFill>
                      <a:srgbClr val="FFFFFF"/>
                    </a:solidFill>
                  </a:tcPr>
                </a:tc>
              </a:tr>
              <a:tr h="342900">
                <a:tc>
                  <a:txBody>
                    <a:bodyPr wrap="square"/>
                    <a:lstStyle/>
                    <a:p>
                      <a:pPr algn="l"/>
                      <a:r>
                        <a:rPr sz="1150" b="0">
                          <a:solidFill>
                            <a:srgbClr val="0D6F68"/>
                          </a:solidFill>
                          <a:latin typeface="Segoe UI"/>
                        </a:rPr>
                        <a:t>S-LoRA</a:t>
                      </a:r>
                    </a:p>
                  </a:txBody>
                  <a:tcPr marL="82296" marR="82296" marT="27432" marB="27432">
                    <a:solidFill>
                      <a:srgbClr val="FFFFFF"/>
                    </a:solidFill>
                  </a:tcPr>
                </a:tc>
                <a:tc>
                  <a:txBody>
                    <a:bodyPr wrap="square"/>
                    <a:lstStyle/>
                    <a:p>
                      <a:pPr algn="r"/>
                      <a:r>
                        <a:rPr sz="1150" b="0">
                          <a:solidFill>
                            <a:srgbClr val="0D6F68"/>
                          </a:solidFill>
                          <a:latin typeface="Consolas"/>
                        </a:rPr>
                        <a:t>8</a:t>
                      </a:r>
                    </a:p>
                  </a:txBody>
                  <a:tcPr marL="82296" marR="82296" marT="27432" marB="27432">
                    <a:solidFill>
                      <a:srgbClr val="FFFFFF"/>
                    </a:solidFill>
                  </a:tcPr>
                </a:tc>
                <a:tc>
                  <a:txBody>
                    <a:bodyPr wrap="square"/>
                    <a:lstStyle/>
                    <a:p>
                      <a:pPr algn="r"/>
                      <a:r>
                        <a:rPr sz="1150" b="0">
                          <a:solidFill>
                            <a:srgbClr val="0D6F68"/>
                          </a:solidFill>
                          <a:latin typeface="Consolas"/>
                        </a:rPr>
                        <a:t>0.229</a:t>
                      </a:r>
                    </a:p>
                  </a:txBody>
                  <a:tcPr marL="82296" marR="82296" marT="27432" marB="27432">
                    <a:solidFill>
                      <a:srgbClr val="FFFFFF"/>
                    </a:solidFill>
                  </a:tcPr>
                </a:tc>
                <a:tc>
                  <a:txBody>
                    <a:bodyPr wrap="square"/>
                    <a:lstStyle/>
                    <a:p>
                      <a:pPr algn="r"/>
                      <a:r>
                        <a:rPr sz="1150" b="0">
                          <a:solidFill>
                            <a:srgbClr val="0D6F68"/>
                          </a:solidFill>
                          <a:latin typeface="Consolas"/>
                        </a:rPr>
                        <a:t>3</a:t>
                      </a:r>
                    </a:p>
                  </a:txBody>
                  <a:tcPr marL="82296" marR="82296" marT="27432" marB="27432">
                    <a:solidFill>
                      <a:srgbClr val="FFFFFF"/>
                    </a:solidFill>
                  </a:tcPr>
                </a:tc>
                <a:tc>
                  <a:txBody>
                    <a:bodyPr wrap="square"/>
                    <a:lstStyle/>
                    <a:p>
                      <a:pPr algn="r"/>
                      <a:r>
                        <a:rPr sz="1150" b="0">
                          <a:solidFill>
                            <a:srgbClr val="0D6F68"/>
                          </a:solidFill>
                          <a:latin typeface="Consolas"/>
                        </a:rPr>
                        <a:t>65.45 ± 0.38</a:t>
                      </a:r>
                    </a:p>
                  </a:txBody>
                  <a:tcPr marL="82296" marR="82296" marT="27432" marB="27432">
                    <a:solidFill>
                      <a:srgbClr val="FFFFFF"/>
                    </a:solidFill>
                  </a:tcPr>
                </a:tc>
                <a:tc>
                  <a:txBody>
                    <a:bodyPr wrap="square"/>
                    <a:lstStyle/>
                    <a:p>
                      <a:pPr algn="r"/>
                      <a:r>
                        <a:rPr sz="1150" b="0">
                          <a:solidFill>
                            <a:srgbClr val="0D6F68"/>
                          </a:solidFill>
                          <a:latin typeface="Consolas"/>
                        </a:rPr>
                        <a:t>68.08 ± 0.31</a:t>
                      </a:r>
                    </a:p>
                  </a:txBody>
                  <a:tcPr marL="82296" marR="82296" marT="27432" marB="27432">
                    <a:solidFill>
                      <a:srgbClr val="FFFFFF"/>
                    </a:solidFill>
                  </a:tcPr>
                </a:tc>
                <a:tc>
                  <a:txBody>
                    <a:bodyPr wrap="square"/>
                    <a:lstStyle/>
                    <a:p>
                      <a:pPr algn="r"/>
                      <a:r>
                        <a:rPr sz="1150" b="0">
                          <a:solidFill>
                            <a:srgbClr val="0D6F68"/>
                          </a:solidFill>
                          <a:latin typeface="Consolas"/>
                        </a:rPr>
                        <a:t>1.1341</a:t>
                      </a:r>
                    </a:p>
                  </a:txBody>
                  <a:tcPr marL="82296" marR="82296" marT="27432" marB="27432">
                    <a:solidFill>
                      <a:srgbClr val="FFFFFF"/>
                    </a:solidFill>
                  </a:tcPr>
                </a:tc>
              </a:tr>
              <a:tr h="342900">
                <a:tc>
                  <a:txBody>
                    <a:bodyPr wrap="square"/>
                    <a:lstStyle/>
                    <a:p>
                      <a:pPr algn="l"/>
                      <a:r>
                        <a:rPr sz="1150" b="0">
                          <a:solidFill>
                            <a:srgbClr val="0D6F68"/>
                          </a:solidFill>
                          <a:latin typeface="Segoe UI"/>
                        </a:rPr>
                        <a:t>S-LoRA</a:t>
                      </a:r>
                    </a:p>
                  </a:txBody>
                  <a:tcPr marL="82296" marR="82296" marT="27432" marB="27432">
                    <a:solidFill>
                      <a:srgbClr val="FFFFFF"/>
                    </a:solidFill>
                  </a:tcPr>
                </a:tc>
                <a:tc>
                  <a:txBody>
                    <a:bodyPr wrap="square"/>
                    <a:lstStyle/>
                    <a:p>
                      <a:pPr algn="r"/>
                      <a:r>
                        <a:rPr sz="1150" b="0">
                          <a:solidFill>
                            <a:srgbClr val="0D6F68"/>
                          </a:solidFill>
                          <a:latin typeface="Consolas"/>
                        </a:rPr>
                        <a:t>16</a:t>
                      </a:r>
                    </a:p>
                  </a:txBody>
                  <a:tcPr marL="82296" marR="82296" marT="27432" marB="27432">
                    <a:solidFill>
                      <a:srgbClr val="FFFFFF"/>
                    </a:solidFill>
                  </a:tcPr>
                </a:tc>
                <a:tc>
                  <a:txBody>
                    <a:bodyPr wrap="square"/>
                    <a:lstStyle/>
                    <a:p>
                      <a:pPr algn="r"/>
                      <a:r>
                        <a:rPr sz="1150" b="0">
                          <a:solidFill>
                            <a:srgbClr val="0D6F68"/>
                          </a:solidFill>
                          <a:latin typeface="Consolas"/>
                        </a:rPr>
                        <a:t>0.459</a:t>
                      </a:r>
                    </a:p>
                  </a:txBody>
                  <a:tcPr marL="82296" marR="82296" marT="27432" marB="27432">
                    <a:solidFill>
                      <a:srgbClr val="FFFFFF"/>
                    </a:solidFill>
                  </a:tcPr>
                </a:tc>
                <a:tc>
                  <a:txBody>
                    <a:bodyPr wrap="square"/>
                    <a:lstStyle/>
                    <a:p>
                      <a:pPr algn="r"/>
                      <a:r>
                        <a:rPr sz="1150" b="0">
                          <a:solidFill>
                            <a:srgbClr val="0D6F68"/>
                          </a:solidFill>
                          <a:latin typeface="Consolas"/>
                        </a:rPr>
                        <a:t>2</a:t>
                      </a:r>
                    </a:p>
                  </a:txBody>
                  <a:tcPr marL="82296" marR="82296" marT="27432" marB="27432">
                    <a:solidFill>
                      <a:srgbClr val="FFFFFF"/>
                    </a:solidFill>
                  </a:tcPr>
                </a:tc>
                <a:tc>
                  <a:txBody>
                    <a:bodyPr wrap="square"/>
                    <a:lstStyle/>
                    <a:p>
                      <a:pPr algn="r"/>
                      <a:r>
                        <a:rPr sz="1150" b="0">
                          <a:solidFill>
                            <a:srgbClr val="0D6F68"/>
                          </a:solidFill>
                          <a:latin typeface="Consolas"/>
                        </a:rPr>
                        <a:t>65.70 ± 0.38</a:t>
                      </a:r>
                    </a:p>
                  </a:txBody>
                  <a:tcPr marL="82296" marR="82296" marT="27432" marB="27432">
                    <a:solidFill>
                      <a:srgbClr val="FFFFFF"/>
                    </a:solidFill>
                  </a:tcPr>
                </a:tc>
                <a:tc>
                  <a:txBody>
                    <a:bodyPr wrap="square"/>
                    <a:lstStyle/>
                    <a:p>
                      <a:pPr algn="r"/>
                      <a:r>
                        <a:rPr sz="1150" b="0">
                          <a:solidFill>
                            <a:srgbClr val="0D6F68"/>
                          </a:solidFill>
                          <a:latin typeface="Consolas"/>
                        </a:rPr>
                        <a:t>68.09 ± 0.25</a:t>
                      </a:r>
                    </a:p>
                  </a:txBody>
                  <a:tcPr marL="82296" marR="82296" marT="27432" marB="27432">
                    <a:solidFill>
                      <a:srgbClr val="FFFFFF"/>
                    </a:solidFill>
                  </a:tcPr>
                </a:tc>
                <a:tc>
                  <a:txBody>
                    <a:bodyPr wrap="square"/>
                    <a:lstStyle/>
                    <a:p>
                      <a:pPr algn="r"/>
                      <a:r>
                        <a:rPr sz="1150" b="0">
                          <a:solidFill>
                            <a:srgbClr val="0D6F68"/>
                          </a:solidFill>
                          <a:latin typeface="Consolas"/>
                        </a:rPr>
                        <a:t>1.1273</a:t>
                      </a:r>
                    </a:p>
                  </a:txBody>
                  <a:tcPr marL="82296" marR="82296" marT="27432" marB="27432">
                    <a:solidFill>
                      <a:srgbClr val="FFFFFF"/>
                    </a:solidFill>
                  </a:tcPr>
                </a:tc>
              </a:tr>
              <a:tr h="342900">
                <a:tc>
                  <a:txBody>
                    <a:bodyPr wrap="square"/>
                    <a:lstStyle/>
                    <a:p>
                      <a:pPr algn="l"/>
                      <a:r>
                        <a:rPr sz="1150" b="0">
                          <a:solidFill>
                            <a:srgbClr val="9C5518"/>
                          </a:solidFill>
                          <a:latin typeface="Segoe UI"/>
                        </a:rPr>
                        <a:t>LoRA</a:t>
                      </a:r>
                    </a:p>
                  </a:txBody>
                  <a:tcPr marL="82296" marR="82296" marT="27432" marB="27432">
                    <a:solidFill>
                      <a:srgbClr val="FFFFFF"/>
                    </a:solidFill>
                  </a:tcPr>
                </a:tc>
                <a:tc>
                  <a:txBody>
                    <a:bodyPr wrap="square"/>
                    <a:lstStyle/>
                    <a:p>
                      <a:pPr algn="r"/>
                      <a:r>
                        <a:rPr sz="1150" b="0">
                          <a:solidFill>
                            <a:srgbClr val="9C5518"/>
                          </a:solidFill>
                          <a:latin typeface="Consolas"/>
                        </a:rPr>
                        <a:t>1</a:t>
                      </a:r>
                    </a:p>
                  </a:txBody>
                  <a:tcPr marL="82296" marR="82296" marT="27432" marB="27432">
                    <a:solidFill>
                      <a:srgbClr val="FFFFFF"/>
                    </a:solidFill>
                  </a:tcPr>
                </a:tc>
                <a:tc>
                  <a:txBody>
                    <a:bodyPr wrap="square"/>
                    <a:lstStyle/>
                    <a:p>
                      <a:pPr algn="r"/>
                      <a:r>
                        <a:rPr sz="1150" b="0">
                          <a:solidFill>
                            <a:srgbClr val="9C5518"/>
                          </a:solidFill>
                          <a:latin typeface="Consolas"/>
                        </a:rPr>
                        <a:t>0.100</a:t>
                      </a:r>
                    </a:p>
                  </a:txBody>
                  <a:tcPr marL="82296" marR="82296" marT="27432" marB="27432">
                    <a:solidFill>
                      <a:srgbClr val="FFFFFF"/>
                    </a:solidFill>
                  </a:tcPr>
                </a:tc>
                <a:tc>
                  <a:txBody>
                    <a:bodyPr wrap="square"/>
                    <a:lstStyle/>
                    <a:p>
                      <a:pPr algn="r"/>
                      <a:r>
                        <a:rPr sz="1150" b="0">
                          <a:solidFill>
                            <a:srgbClr val="9C5518"/>
                          </a:solidFill>
                          <a:latin typeface="Consolas"/>
                        </a:rPr>
                        <a:t>2</a:t>
                      </a:r>
                    </a:p>
                  </a:txBody>
                  <a:tcPr marL="82296" marR="82296" marT="27432" marB="27432">
                    <a:solidFill>
                      <a:srgbClr val="FFFFFF"/>
                    </a:solidFill>
                  </a:tcPr>
                </a:tc>
                <a:tc>
                  <a:txBody>
                    <a:bodyPr wrap="square"/>
                    <a:lstStyle/>
                    <a:p>
                      <a:pPr algn="r"/>
                      <a:r>
                        <a:rPr sz="1150" b="0">
                          <a:solidFill>
                            <a:srgbClr val="9C5518"/>
                          </a:solidFill>
                          <a:latin typeface="Consolas"/>
                        </a:rPr>
                        <a:t>62.78 ± 0.97</a:t>
                      </a:r>
                    </a:p>
                  </a:txBody>
                  <a:tcPr marL="82296" marR="82296" marT="27432" marB="27432">
                    <a:solidFill>
                      <a:srgbClr val="FFFFFF"/>
                    </a:solidFill>
                  </a:tcPr>
                </a:tc>
                <a:tc>
                  <a:txBody>
                    <a:bodyPr wrap="square"/>
                    <a:lstStyle/>
                    <a:p>
                      <a:pPr algn="r"/>
                      <a:r>
                        <a:rPr sz="1150" b="0">
                          <a:solidFill>
                            <a:srgbClr val="9C5518"/>
                          </a:solidFill>
                          <a:latin typeface="Consolas"/>
                        </a:rPr>
                        <a:t>65.26 ± 0.43</a:t>
                      </a:r>
                    </a:p>
                  </a:txBody>
                  <a:tcPr marL="82296" marR="82296" marT="27432" marB="27432">
                    <a:solidFill>
                      <a:srgbClr val="FFFFFF"/>
                    </a:solidFill>
                  </a:tcPr>
                </a:tc>
                <a:tc>
                  <a:txBody>
                    <a:bodyPr wrap="square"/>
                    <a:lstStyle/>
                    <a:p>
                      <a:pPr algn="r"/>
                      <a:r>
                        <a:rPr sz="1150" b="0">
                          <a:solidFill>
                            <a:srgbClr val="9C5518"/>
                          </a:solidFill>
                          <a:latin typeface="Consolas"/>
                        </a:rPr>
                        <a:t>1.1928</a:t>
                      </a:r>
                    </a:p>
                  </a:txBody>
                  <a:tcPr marL="82296" marR="82296" marT="27432" marB="27432">
                    <a:solidFill>
                      <a:srgbClr val="FFFFFF"/>
                    </a:solidFill>
                  </a:tcPr>
                </a:tc>
              </a:tr>
              <a:tr h="342900">
                <a:tc>
                  <a:txBody>
                    <a:bodyPr wrap="square"/>
                    <a:lstStyle/>
                    <a:p>
                      <a:pPr algn="l"/>
                      <a:r>
                        <a:rPr sz="1150" b="0">
                          <a:solidFill>
                            <a:srgbClr val="9C5518"/>
                          </a:solidFill>
                          <a:latin typeface="Segoe UI"/>
                        </a:rPr>
                        <a:t>LoRA</a:t>
                      </a:r>
                    </a:p>
                  </a:txBody>
                  <a:tcPr marL="82296" marR="82296" marT="27432" marB="27432">
                    <a:solidFill>
                      <a:srgbClr val="FFFFFF"/>
                    </a:solidFill>
                  </a:tcPr>
                </a:tc>
                <a:tc>
                  <a:txBody>
                    <a:bodyPr wrap="square"/>
                    <a:lstStyle/>
                    <a:p>
                      <a:pPr algn="r"/>
                      <a:r>
                        <a:rPr sz="1150" b="0">
                          <a:solidFill>
                            <a:srgbClr val="9C5518"/>
                          </a:solidFill>
                          <a:latin typeface="Consolas"/>
                        </a:rPr>
                        <a:t>2</a:t>
                      </a:r>
                    </a:p>
                  </a:txBody>
                  <a:tcPr marL="82296" marR="82296" marT="27432" marB="27432">
                    <a:solidFill>
                      <a:srgbClr val="FFFFFF"/>
                    </a:solidFill>
                  </a:tcPr>
                </a:tc>
                <a:tc>
                  <a:txBody>
                    <a:bodyPr wrap="square"/>
                    <a:lstStyle/>
                    <a:p>
                      <a:pPr algn="r"/>
                      <a:r>
                        <a:rPr sz="1150" b="0">
                          <a:solidFill>
                            <a:srgbClr val="9C5518"/>
                          </a:solidFill>
                          <a:latin typeface="Consolas"/>
                        </a:rPr>
                        <a:t>0.201</a:t>
                      </a:r>
                    </a:p>
                  </a:txBody>
                  <a:tcPr marL="82296" marR="82296" marT="27432" marB="27432">
                    <a:solidFill>
                      <a:srgbClr val="FFFFFF"/>
                    </a:solidFill>
                  </a:tcPr>
                </a:tc>
                <a:tc>
                  <a:txBody>
                    <a:bodyPr wrap="square"/>
                    <a:lstStyle/>
                    <a:p>
                      <a:pPr algn="r"/>
                      <a:r>
                        <a:rPr sz="1150" b="0">
                          <a:solidFill>
                            <a:srgbClr val="9C5518"/>
                          </a:solidFill>
                          <a:latin typeface="Consolas"/>
                        </a:rPr>
                        <a:t>2</a:t>
                      </a:r>
                    </a:p>
                  </a:txBody>
                  <a:tcPr marL="82296" marR="82296" marT="27432" marB="27432">
                    <a:solidFill>
                      <a:srgbClr val="FFFFFF"/>
                    </a:solidFill>
                  </a:tcPr>
                </a:tc>
                <a:tc>
                  <a:txBody>
                    <a:bodyPr wrap="square"/>
                    <a:lstStyle/>
                    <a:p>
                      <a:pPr algn="r"/>
                      <a:r>
                        <a:rPr sz="1150" b="0">
                          <a:solidFill>
                            <a:srgbClr val="9C5518"/>
                          </a:solidFill>
                          <a:latin typeface="Consolas"/>
                        </a:rPr>
                        <a:t>64.24 ± 0.50</a:t>
                      </a:r>
                    </a:p>
                  </a:txBody>
                  <a:tcPr marL="82296" marR="82296" marT="27432" marB="27432">
                    <a:solidFill>
                      <a:srgbClr val="FFFFFF"/>
                    </a:solidFill>
                  </a:tcPr>
                </a:tc>
                <a:tc>
                  <a:txBody>
                    <a:bodyPr wrap="square"/>
                    <a:lstStyle/>
                    <a:p>
                      <a:pPr algn="r"/>
                      <a:r>
                        <a:rPr sz="1150" b="0">
                          <a:solidFill>
                            <a:srgbClr val="9C5518"/>
                          </a:solidFill>
                          <a:latin typeface="Consolas"/>
                        </a:rPr>
                        <a:t>66.63 ± 0.60</a:t>
                      </a:r>
                    </a:p>
                  </a:txBody>
                  <a:tcPr marL="82296" marR="82296" marT="27432" marB="27432">
                    <a:solidFill>
                      <a:srgbClr val="FFFFFF"/>
                    </a:solidFill>
                  </a:tcPr>
                </a:tc>
                <a:tc>
                  <a:txBody>
                    <a:bodyPr wrap="square"/>
                    <a:lstStyle/>
                    <a:p>
                      <a:pPr algn="r"/>
                      <a:r>
                        <a:rPr sz="1150" b="0">
                          <a:solidFill>
                            <a:srgbClr val="9C5518"/>
                          </a:solidFill>
                          <a:latin typeface="Consolas"/>
                        </a:rPr>
                        <a:t>1.1624</a:t>
                      </a:r>
                    </a:p>
                  </a:txBody>
                  <a:tcPr marL="82296" marR="82296" marT="27432" marB="27432">
                    <a:solidFill>
                      <a:srgbClr val="FFFFFF"/>
                    </a:solidFill>
                  </a:tcPr>
                </a:tc>
              </a:tr>
              <a:tr h="342900">
                <a:tc>
                  <a:txBody>
                    <a:bodyPr wrap="square"/>
                    <a:lstStyle/>
                    <a:p>
                      <a:pPr algn="l"/>
                      <a:r>
                        <a:rPr sz="1150" b="0">
                          <a:solidFill>
                            <a:srgbClr val="9C5518"/>
                          </a:solidFill>
                          <a:latin typeface="Segoe UI"/>
                        </a:rPr>
                        <a:t>LoRA</a:t>
                      </a:r>
                    </a:p>
                  </a:txBody>
                  <a:tcPr marL="82296" marR="82296" marT="27432" marB="27432">
                    <a:solidFill>
                      <a:srgbClr val="FFFFFF"/>
                    </a:solidFill>
                  </a:tcPr>
                </a:tc>
                <a:tc>
                  <a:txBody>
                    <a:bodyPr wrap="square"/>
                    <a:lstStyle/>
                    <a:p>
                      <a:pPr algn="r"/>
                      <a:r>
                        <a:rPr sz="1150" b="0">
                          <a:solidFill>
                            <a:srgbClr val="9C5518"/>
                          </a:solidFill>
                          <a:latin typeface="Consolas"/>
                        </a:rPr>
                        <a:t>4</a:t>
                      </a:r>
                    </a:p>
                  </a:txBody>
                  <a:tcPr marL="82296" marR="82296" marT="27432" marB="27432">
                    <a:solidFill>
                      <a:srgbClr val="FFFFFF"/>
                    </a:solidFill>
                  </a:tcPr>
                </a:tc>
                <a:tc>
                  <a:txBody>
                    <a:bodyPr wrap="square"/>
                    <a:lstStyle/>
                    <a:p>
                      <a:pPr algn="r"/>
                      <a:r>
                        <a:rPr sz="1150" b="0">
                          <a:solidFill>
                            <a:srgbClr val="9C5518"/>
                          </a:solidFill>
                          <a:latin typeface="Consolas"/>
                        </a:rPr>
                        <a:t>0.401</a:t>
                      </a:r>
                    </a:p>
                  </a:txBody>
                  <a:tcPr marL="82296" marR="82296" marT="27432" marB="27432">
                    <a:solidFill>
                      <a:srgbClr val="FFFFFF"/>
                    </a:solidFill>
                  </a:tcPr>
                </a:tc>
                <a:tc>
                  <a:txBody>
                    <a:bodyPr wrap="square"/>
                    <a:lstStyle/>
                    <a:p>
                      <a:pPr algn="r"/>
                      <a:r>
                        <a:rPr sz="1150" b="0">
                          <a:solidFill>
                            <a:srgbClr val="9C5518"/>
                          </a:solidFill>
                          <a:latin typeface="Consolas"/>
                        </a:rPr>
                        <a:t>3</a:t>
                      </a:r>
                    </a:p>
                  </a:txBody>
                  <a:tcPr marL="82296" marR="82296" marT="27432" marB="27432">
                    <a:solidFill>
                      <a:srgbClr val="FFFFFF"/>
                    </a:solidFill>
                  </a:tcPr>
                </a:tc>
                <a:tc>
                  <a:txBody>
                    <a:bodyPr wrap="square"/>
                    <a:lstStyle/>
                    <a:p>
                      <a:pPr algn="r"/>
                      <a:r>
                        <a:rPr sz="1150" b="0">
                          <a:solidFill>
                            <a:srgbClr val="9C5518"/>
                          </a:solidFill>
                          <a:latin typeface="Consolas"/>
                        </a:rPr>
                        <a:t>64.98 ± 0.70</a:t>
                      </a:r>
                    </a:p>
                  </a:txBody>
                  <a:tcPr marL="82296" marR="82296" marT="27432" marB="27432">
                    <a:solidFill>
                      <a:srgbClr val="FFFFFF"/>
                    </a:solidFill>
                  </a:tcPr>
                </a:tc>
                <a:tc>
                  <a:txBody>
                    <a:bodyPr wrap="square"/>
                    <a:lstStyle/>
                    <a:p>
                      <a:pPr algn="r"/>
                      <a:r>
                        <a:rPr sz="1150" b="0">
                          <a:solidFill>
                            <a:srgbClr val="9C5518"/>
                          </a:solidFill>
                          <a:latin typeface="Consolas"/>
                        </a:rPr>
                        <a:t>67.44 ± 0.48</a:t>
                      </a:r>
                    </a:p>
                  </a:txBody>
                  <a:tcPr marL="82296" marR="82296" marT="27432" marB="27432">
                    <a:solidFill>
                      <a:srgbClr val="FFFFFF"/>
                    </a:solidFill>
                  </a:tcPr>
                </a:tc>
                <a:tc>
                  <a:txBody>
                    <a:bodyPr wrap="square"/>
                    <a:lstStyle/>
                    <a:p>
                      <a:pPr algn="r"/>
                      <a:r>
                        <a:rPr sz="1150" b="0">
                          <a:solidFill>
                            <a:srgbClr val="9C5518"/>
                          </a:solidFill>
                          <a:latin typeface="Consolas"/>
                        </a:rPr>
                        <a:t>1.1452</a:t>
                      </a:r>
                    </a:p>
                  </a:txBody>
                  <a:tcPr marL="82296" marR="82296" marT="27432" marB="27432">
                    <a:solidFill>
                      <a:srgbClr val="FFFFFF"/>
                    </a:solidFill>
                  </a:tcPr>
                </a:tc>
              </a:tr>
              <a:tr h="342900">
                <a:tc>
                  <a:txBody>
                    <a:bodyPr wrap="square"/>
                    <a:lstStyle/>
                    <a:p>
                      <a:pPr algn="l"/>
                      <a:r>
                        <a:rPr sz="1150" b="0">
                          <a:solidFill>
                            <a:srgbClr val="9C5518"/>
                          </a:solidFill>
                          <a:latin typeface="Segoe UI"/>
                        </a:rPr>
                        <a:t>LoRA</a:t>
                      </a:r>
                    </a:p>
                  </a:txBody>
                  <a:tcPr marL="82296" marR="82296" marT="27432" marB="27432">
                    <a:solidFill>
                      <a:srgbClr val="FFFFFF"/>
                    </a:solidFill>
                  </a:tcPr>
                </a:tc>
                <a:tc>
                  <a:txBody>
                    <a:bodyPr wrap="square"/>
                    <a:lstStyle/>
                    <a:p>
                      <a:pPr algn="r"/>
                      <a:r>
                        <a:rPr sz="1150" b="0">
                          <a:solidFill>
                            <a:srgbClr val="9C5518"/>
                          </a:solidFill>
                          <a:latin typeface="Consolas"/>
                        </a:rPr>
                        <a:t>8</a:t>
                      </a:r>
                    </a:p>
                  </a:txBody>
                  <a:tcPr marL="82296" marR="82296" marT="27432" marB="27432">
                    <a:solidFill>
                      <a:srgbClr val="FFFFFF"/>
                    </a:solidFill>
                  </a:tcPr>
                </a:tc>
                <a:tc>
                  <a:txBody>
                    <a:bodyPr wrap="square"/>
                    <a:lstStyle/>
                    <a:p>
                      <a:pPr algn="r"/>
                      <a:r>
                        <a:rPr sz="1150" b="0">
                          <a:solidFill>
                            <a:srgbClr val="9C5518"/>
                          </a:solidFill>
                          <a:latin typeface="Consolas"/>
                        </a:rPr>
                        <a:t>0.803</a:t>
                      </a:r>
                    </a:p>
                  </a:txBody>
                  <a:tcPr marL="82296" marR="82296" marT="27432" marB="27432">
                    <a:solidFill>
                      <a:srgbClr val="FFFFFF"/>
                    </a:solidFill>
                  </a:tcPr>
                </a:tc>
                <a:tc>
                  <a:txBody>
                    <a:bodyPr wrap="square"/>
                    <a:lstStyle/>
                    <a:p>
                      <a:pPr algn="r"/>
                      <a:r>
                        <a:rPr sz="1150" b="0">
                          <a:solidFill>
                            <a:srgbClr val="9C5518"/>
                          </a:solidFill>
                          <a:latin typeface="Consolas"/>
                        </a:rPr>
                        <a:t>3</a:t>
                      </a:r>
                    </a:p>
                  </a:txBody>
                  <a:tcPr marL="82296" marR="82296" marT="27432" marB="27432">
                    <a:solidFill>
                      <a:srgbClr val="FFFFFF"/>
                    </a:solidFill>
                  </a:tcPr>
                </a:tc>
                <a:tc>
                  <a:txBody>
                    <a:bodyPr wrap="square"/>
                    <a:lstStyle/>
                    <a:p>
                      <a:pPr algn="r"/>
                      <a:r>
                        <a:rPr sz="1150" b="0">
                          <a:solidFill>
                            <a:srgbClr val="9C5518"/>
                          </a:solidFill>
                          <a:latin typeface="Consolas"/>
                        </a:rPr>
                        <a:t>65.61 ± 0.07</a:t>
                      </a:r>
                    </a:p>
                  </a:txBody>
                  <a:tcPr marL="82296" marR="82296" marT="27432" marB="27432">
                    <a:solidFill>
                      <a:srgbClr val="FFFFFF"/>
                    </a:solidFill>
                  </a:tcPr>
                </a:tc>
                <a:tc>
                  <a:txBody>
                    <a:bodyPr wrap="square"/>
                    <a:lstStyle/>
                    <a:p>
                      <a:pPr algn="r"/>
                      <a:r>
                        <a:rPr sz="1150" b="0">
                          <a:solidFill>
                            <a:srgbClr val="9C5518"/>
                          </a:solidFill>
                          <a:latin typeface="Consolas"/>
                        </a:rPr>
                        <a:t>68.27 ± 0.42</a:t>
                      </a:r>
                    </a:p>
                  </a:txBody>
                  <a:tcPr marL="82296" marR="82296" marT="27432" marB="27432">
                    <a:solidFill>
                      <a:srgbClr val="FFFFFF"/>
                    </a:solidFill>
                  </a:tcPr>
                </a:tc>
                <a:tc>
                  <a:txBody>
                    <a:bodyPr wrap="square"/>
                    <a:lstStyle/>
                    <a:p>
                      <a:pPr algn="r"/>
                      <a:r>
                        <a:rPr sz="1150" b="0">
                          <a:solidFill>
                            <a:srgbClr val="9C5518"/>
                          </a:solidFill>
                          <a:latin typeface="Consolas"/>
                        </a:rPr>
                        <a:t>1.1307</a:t>
                      </a:r>
                    </a:p>
                  </a:txBody>
                  <a:tcPr marL="82296" marR="82296" marT="27432" marB="27432">
                    <a:solidFill>
                      <a:srgbClr val="FFFFFF"/>
                    </a:solidFill>
                  </a:tcPr>
                </a:tc>
              </a:tr>
              <a:tr h="342900">
                <a:tc>
                  <a:txBody>
                    <a:bodyPr wrap="square"/>
                    <a:lstStyle/>
                    <a:p>
                      <a:pPr algn="l"/>
                      <a:r>
                        <a:rPr sz="1150" b="0">
                          <a:solidFill>
                            <a:srgbClr val="9C5518"/>
                          </a:solidFill>
                          <a:latin typeface="Segoe UI"/>
                        </a:rPr>
                        <a:t>LoRA</a:t>
                      </a:r>
                    </a:p>
                  </a:txBody>
                  <a:tcPr marL="82296" marR="82296" marT="27432" marB="27432">
                    <a:solidFill>
                      <a:srgbClr val="FFFFFF"/>
                    </a:solidFill>
                  </a:tcPr>
                </a:tc>
                <a:tc>
                  <a:txBody>
                    <a:bodyPr wrap="square"/>
                    <a:lstStyle/>
                    <a:p>
                      <a:pPr algn="r"/>
                      <a:r>
                        <a:rPr sz="1150" b="0">
                          <a:solidFill>
                            <a:srgbClr val="9C5518"/>
                          </a:solidFill>
                          <a:latin typeface="Consolas"/>
                        </a:rPr>
                        <a:t>16</a:t>
                      </a:r>
                    </a:p>
                  </a:txBody>
                  <a:tcPr marL="82296" marR="82296" marT="27432" marB="27432">
                    <a:solidFill>
                      <a:srgbClr val="FFFFFF"/>
                    </a:solidFill>
                  </a:tcPr>
                </a:tc>
                <a:tc>
                  <a:txBody>
                    <a:bodyPr wrap="square"/>
                    <a:lstStyle/>
                    <a:p>
                      <a:pPr algn="r"/>
                      <a:r>
                        <a:rPr sz="1150" b="0">
                          <a:solidFill>
                            <a:srgbClr val="9C5518"/>
                          </a:solidFill>
                          <a:latin typeface="Consolas"/>
                        </a:rPr>
                        <a:t>1.606</a:t>
                      </a:r>
                    </a:p>
                  </a:txBody>
                  <a:tcPr marL="82296" marR="82296" marT="27432" marB="27432">
                    <a:solidFill>
                      <a:srgbClr val="FFFFFF"/>
                    </a:solidFill>
                  </a:tcPr>
                </a:tc>
                <a:tc>
                  <a:txBody>
                    <a:bodyPr wrap="square"/>
                    <a:lstStyle/>
                    <a:p>
                      <a:pPr algn="r"/>
                      <a:r>
                        <a:rPr sz="1150" b="0">
                          <a:solidFill>
                            <a:srgbClr val="9C5518"/>
                          </a:solidFill>
                          <a:latin typeface="Consolas"/>
                        </a:rPr>
                        <a:t>2</a:t>
                      </a:r>
                    </a:p>
                  </a:txBody>
                  <a:tcPr marL="82296" marR="82296" marT="27432" marB="27432">
                    <a:solidFill>
                      <a:srgbClr val="FFFFFF"/>
                    </a:solidFill>
                  </a:tcPr>
                </a:tc>
                <a:tc>
                  <a:txBody>
                    <a:bodyPr wrap="square"/>
                    <a:lstStyle/>
                    <a:p>
                      <a:pPr algn="r"/>
                      <a:r>
                        <a:rPr sz="1150" b="0">
                          <a:solidFill>
                            <a:srgbClr val="9C5518"/>
                          </a:solidFill>
                          <a:latin typeface="Consolas"/>
                        </a:rPr>
                        <a:t>65.75 ± 0.06</a:t>
                      </a:r>
                    </a:p>
                  </a:txBody>
                  <a:tcPr marL="82296" marR="82296" marT="27432" marB="27432">
                    <a:solidFill>
                      <a:srgbClr val="FFFFFF"/>
                    </a:solidFill>
                  </a:tcPr>
                </a:tc>
                <a:tc>
                  <a:txBody>
                    <a:bodyPr wrap="square"/>
                    <a:lstStyle/>
                    <a:p>
                      <a:pPr algn="r"/>
                      <a:r>
                        <a:rPr sz="1150" b="0">
                          <a:solidFill>
                            <a:srgbClr val="9C5518"/>
                          </a:solidFill>
                          <a:latin typeface="Consolas"/>
                        </a:rPr>
                        <a:t>67.99 ± 0.09</a:t>
                      </a:r>
                    </a:p>
                  </a:txBody>
                  <a:tcPr marL="82296" marR="82296" marT="27432" marB="27432">
                    <a:solidFill>
                      <a:srgbClr val="FFFFFF"/>
                    </a:solidFill>
                  </a:tcPr>
                </a:tc>
                <a:tc>
                  <a:txBody>
                    <a:bodyPr wrap="square"/>
                    <a:lstStyle/>
                    <a:p>
                      <a:pPr algn="r"/>
                      <a:r>
                        <a:rPr sz="1150" b="0">
                          <a:solidFill>
                            <a:srgbClr val="9C5518"/>
                          </a:solidFill>
                          <a:latin typeface="Consolas"/>
                        </a:rPr>
                        <a:t>1.1235</a:t>
                      </a:r>
                    </a:p>
                  </a:txBody>
                  <a:tcPr marL="82296" marR="82296" marT="27432" marB="27432">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515600" cy="274320"/>
          </a:xfrm>
          <a:prstGeom prst="rect">
            <a:avLst/>
          </a:prstGeom>
          <a:noFill/>
        </p:spPr>
        <p:txBody>
          <a:bodyPr wrap="square" lIns="0" rIns="0" tIns="0" bIns="0">
            <a:spAutoFit/>
          </a:bodyPr>
          <a:lstStyle/>
          <a:p>
            <a:pPr algn="l">
              <a:lnSpc>
                <a:spcPct val="125000"/>
              </a:lnSpc>
              <a:spcAft>
                <a:spcPts val="600"/>
              </a:spcAft>
            </a:pPr>
            <a:r>
              <a:rPr sz="1050" b="1">
                <a:solidFill>
                  <a:srgbClr val="0D6F68"/>
                </a:solidFill>
                <a:latin typeface="Consolas"/>
              </a:rPr>
              <a:t>KẾT QUẢ</a:t>
            </a:r>
          </a:p>
        </p:txBody>
      </p:sp>
      <p:sp>
        <p:nvSpPr>
          <p:cNvPr id="4" name="TextBox 3"/>
          <p:cNvSpPr txBox="1"/>
          <p:nvPr/>
        </p:nvSpPr>
        <p:spPr>
          <a:xfrm>
            <a:off x="685800" y="777240"/>
            <a:ext cx="10881360" cy="731520"/>
          </a:xfrm>
          <a:prstGeom prst="rect">
            <a:avLst/>
          </a:prstGeom>
          <a:noFill/>
        </p:spPr>
        <p:txBody>
          <a:bodyPr wrap="square" lIns="0" rIns="0" tIns="0" bIns="0">
            <a:spAutoFit/>
          </a:bodyPr>
          <a:lstStyle/>
          <a:p>
            <a:pPr algn="l">
              <a:lnSpc>
                <a:spcPct val="105000"/>
              </a:lnSpc>
              <a:spcAft>
                <a:spcPts val="600"/>
              </a:spcAft>
            </a:pPr>
            <a:r>
              <a:rPr sz="3000" b="0">
                <a:solidFill>
                  <a:srgbClr val="12191D"/>
                </a:solidFill>
                <a:latin typeface="Georgia"/>
              </a:rPr>
              <a:t>So ở cùng ngân sách, không phải cùng rank</a:t>
            </a:r>
          </a:p>
        </p:txBody>
      </p:sp>
      <p:sp>
        <p:nvSpPr>
          <p:cNvPr id="5" name="TextBox 4"/>
          <p:cNvSpPr txBox="1"/>
          <p:nvPr/>
        </p:nvSpPr>
        <p:spPr>
          <a:xfrm>
            <a:off x="685800" y="1572768"/>
            <a:ext cx="10881360" cy="365760"/>
          </a:xfrm>
          <a:prstGeom prst="rect">
            <a:avLst/>
          </a:prstGeom>
          <a:noFill/>
        </p:spPr>
        <p:txBody>
          <a:bodyPr wrap="square" lIns="0" rIns="0" tIns="0" bIns="0">
            <a:spAutoFit/>
          </a:bodyPr>
          <a:lstStyle/>
          <a:p>
            <a:pPr algn="l">
              <a:lnSpc>
                <a:spcPct val="125000"/>
              </a:lnSpc>
              <a:spcAft>
                <a:spcPts val="600"/>
              </a:spcAft>
            </a:pPr>
            <a:r>
              <a:rPr sz="1350" b="0">
                <a:solidFill>
                  <a:srgbClr val="54636C"/>
                </a:solidFill>
                <a:latin typeface="Segoe UI"/>
              </a:rPr>
              <a:t>Ở cùng rank, LoRA được nhiều hơn 3.5× tham số — so như vậy là so sai.</a:t>
            </a:r>
          </a:p>
        </p:txBody>
      </p:sp>
      <p:sp>
        <p:nvSpPr>
          <p:cNvPr id="6" name="Rectangle 5"/>
          <p:cNvSpPr/>
          <p:nvPr/>
        </p:nvSpPr>
        <p:spPr>
          <a:xfrm>
            <a:off x="685800" y="2084831"/>
            <a:ext cx="10817352" cy="1097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1371600" y="2615183"/>
          <a:ext cx="9418316" cy="2069470"/>
        </p:xfrm>
        <a:graphic>
          <a:graphicData uri="http://schemas.openxmlformats.org/drawingml/2006/table">
            <a:tbl>
              <a:tblPr firstRow="1">
                <a:tableStyleId>{5C22544A-7EE6-4342-B048-85BDC9FD1C3A}</a:tableStyleId>
              </a:tblPr>
              <a:tblGrid>
                <a:gridCol w="2260396"/>
                <a:gridCol w="1224381"/>
                <a:gridCol w="2260396"/>
                <a:gridCol w="1224381"/>
                <a:gridCol w="1224381"/>
                <a:gridCol w="1224381"/>
              </a:tblGrid>
              <a:tr h="386974">
                <a:tc>
                  <a:txBody>
                    <a:bodyPr wrap="square"/>
                    <a:lstStyle/>
                    <a:p>
                      <a:pPr algn="l"/>
                      <a:r>
                        <a:rPr sz="1050" b="1">
                          <a:solidFill>
                            <a:srgbClr val="7D8B94"/>
                          </a:solidFill>
                          <a:latin typeface="Consolas"/>
                        </a:rPr>
                        <a:t>S-LoRA</a:t>
                      </a:r>
                    </a:p>
                  </a:txBody>
                  <a:tcPr marL="82296" marR="82296" marT="27432" marB="27432">
                    <a:solidFill>
                      <a:srgbClr val="F5F7F8"/>
                    </a:solidFill>
                  </a:tcPr>
                </a:tc>
                <a:tc>
                  <a:txBody>
                    <a:bodyPr wrap="square"/>
                    <a:lstStyle/>
                    <a:p>
                      <a:pPr algn="r"/>
                      <a:r>
                        <a:rPr sz="1050" b="1">
                          <a:solidFill>
                            <a:srgbClr val="7D8B94"/>
                          </a:solidFill>
                          <a:latin typeface="Consolas"/>
                        </a:rPr>
                        <a:t>BLEU</a:t>
                      </a:r>
                    </a:p>
                  </a:txBody>
                  <a:tcPr marL="82296" marR="82296" marT="27432" marB="27432">
                    <a:solidFill>
                      <a:srgbClr val="F5F7F8"/>
                    </a:solidFill>
                  </a:tcPr>
                </a:tc>
                <a:tc>
                  <a:txBody>
                    <a:bodyPr wrap="square"/>
                    <a:lstStyle/>
                    <a:p>
                      <a:pPr algn="l"/>
                      <a:r>
                        <a:rPr sz="1050" b="1">
                          <a:solidFill>
                            <a:srgbClr val="7D8B94"/>
                          </a:solidFill>
                          <a:latin typeface="Consolas"/>
                        </a:rPr>
                        <a:t>LoRA</a:t>
                      </a:r>
                    </a:p>
                  </a:txBody>
                  <a:tcPr marL="82296" marR="82296" marT="27432" marB="27432">
                    <a:solidFill>
                      <a:srgbClr val="F5F7F8"/>
                    </a:solidFill>
                  </a:tcPr>
                </a:tc>
                <a:tc>
                  <a:txBody>
                    <a:bodyPr wrap="square"/>
                    <a:lstStyle/>
                    <a:p>
                      <a:pPr algn="r"/>
                      <a:r>
                        <a:rPr sz="1050" b="1">
                          <a:solidFill>
                            <a:srgbClr val="7D8B94"/>
                          </a:solidFill>
                          <a:latin typeface="Consolas"/>
                        </a:rPr>
                        <a:t>BLEU</a:t>
                      </a:r>
                    </a:p>
                  </a:txBody>
                  <a:tcPr marL="82296" marR="82296" marT="27432" marB="27432">
                    <a:solidFill>
                      <a:srgbClr val="F5F7F8"/>
                    </a:solidFill>
                  </a:tcPr>
                </a:tc>
                <a:tc>
                  <a:txBody>
                    <a:bodyPr wrap="square"/>
                    <a:lstStyle/>
                    <a:p>
                      <a:pPr algn="l"/>
                      <a:r>
                        <a:rPr sz="1050" b="1">
                          <a:solidFill>
                            <a:srgbClr val="7D8B94"/>
                          </a:solidFill>
                          <a:latin typeface="Consolas"/>
                        </a:rPr>
                        <a:t>chênh</a:t>
                      </a:r>
                    </a:p>
                  </a:txBody>
                  <a:tcPr marL="82296" marR="82296" marT="27432" marB="27432">
                    <a:solidFill>
                      <a:srgbClr val="F5F7F8"/>
                    </a:solidFill>
                  </a:tcPr>
                </a:tc>
                <a:tc>
                  <a:txBody>
                    <a:bodyPr wrap="square"/>
                    <a:lstStyle/>
                    <a:p>
                      <a:pPr algn="r"/>
                      <a:r>
                        <a:rPr sz="1050" b="1">
                          <a:solidFill>
                            <a:srgbClr val="7D8B94"/>
                          </a:solidFill>
                          <a:latin typeface="Consolas"/>
                        </a:rPr>
                        <a:t>ý nghĩa</a:t>
                      </a:r>
                    </a:p>
                  </a:txBody>
                  <a:tcPr marL="82296" marR="82296" marT="27432" marB="27432">
                    <a:solidFill>
                      <a:srgbClr val="F5F7F8"/>
                    </a:solidFill>
                  </a:tcPr>
                </a:tc>
              </a:tr>
              <a:tr h="420624">
                <a:tc>
                  <a:txBody>
                    <a:bodyPr wrap="square"/>
                    <a:lstStyle/>
                    <a:p>
                      <a:pPr algn="l"/>
                      <a:r>
                        <a:rPr sz="1300" b="0">
                          <a:solidFill>
                            <a:srgbClr val="12191D"/>
                          </a:solidFill>
                          <a:latin typeface="Segoe UI"/>
                        </a:rPr>
                        <a:t>r=2  0.057M</a:t>
                      </a:r>
                    </a:p>
                  </a:txBody>
                  <a:tcPr marL="82296" marR="82296" marT="27432" marB="27432">
                    <a:solidFill>
                      <a:srgbClr val="FFFFFF"/>
                    </a:solidFill>
                  </a:tcPr>
                </a:tc>
                <a:tc>
                  <a:txBody>
                    <a:bodyPr wrap="square"/>
                    <a:lstStyle/>
                    <a:p>
                      <a:pPr algn="r"/>
                      <a:r>
                        <a:rPr sz="1300" b="0">
                          <a:solidFill>
                            <a:srgbClr val="12191D"/>
                          </a:solidFill>
                          <a:latin typeface="Consolas"/>
                        </a:rPr>
                        <a:t>65.22</a:t>
                      </a:r>
                    </a:p>
                  </a:txBody>
                  <a:tcPr marL="82296" marR="82296" marT="27432" marB="27432">
                    <a:solidFill>
                      <a:srgbClr val="FFFFFF"/>
                    </a:solidFill>
                  </a:tcPr>
                </a:tc>
                <a:tc>
                  <a:txBody>
                    <a:bodyPr wrap="square"/>
                    <a:lstStyle/>
                    <a:p>
                      <a:pPr algn="l"/>
                      <a:r>
                        <a:rPr sz="1300" b="0">
                          <a:solidFill>
                            <a:srgbClr val="12191D"/>
                          </a:solidFill>
                          <a:latin typeface="Consolas"/>
                        </a:rPr>
                        <a:t>r=1  0.100M</a:t>
                      </a:r>
                    </a:p>
                  </a:txBody>
                  <a:tcPr marL="82296" marR="82296" marT="27432" marB="27432">
                    <a:solidFill>
                      <a:srgbClr val="FFFFFF"/>
                    </a:solidFill>
                  </a:tcPr>
                </a:tc>
                <a:tc>
                  <a:txBody>
                    <a:bodyPr wrap="square"/>
                    <a:lstStyle/>
                    <a:p>
                      <a:pPr algn="r"/>
                      <a:r>
                        <a:rPr sz="1300" b="0">
                          <a:solidFill>
                            <a:srgbClr val="12191D"/>
                          </a:solidFill>
                          <a:latin typeface="Consolas"/>
                        </a:rPr>
                        <a:t>62.78</a:t>
                      </a:r>
                    </a:p>
                  </a:txBody>
                  <a:tcPr marL="82296" marR="82296" marT="27432" marB="27432">
                    <a:solidFill>
                      <a:srgbClr val="FFFFFF"/>
                    </a:solidFill>
                  </a:tcPr>
                </a:tc>
                <a:tc>
                  <a:txBody>
                    <a:bodyPr wrap="square"/>
                    <a:lstStyle/>
                    <a:p>
                      <a:pPr algn="l"/>
                      <a:r>
                        <a:rPr sz="1300" b="0">
                          <a:solidFill>
                            <a:srgbClr val="12191D"/>
                          </a:solidFill>
                          <a:latin typeface="Consolas"/>
                        </a:rPr>
                        <a:t>+2.44</a:t>
                      </a:r>
                    </a:p>
                  </a:txBody>
                  <a:tcPr marL="82296" marR="82296" marT="27432" marB="27432">
                    <a:solidFill>
                      <a:srgbClr val="FFFFFF"/>
                    </a:solidFill>
                  </a:tcPr>
                </a:tc>
                <a:tc>
                  <a:txBody>
                    <a:bodyPr wrap="square"/>
                    <a:lstStyle/>
                    <a:p>
                      <a:pPr algn="r"/>
                      <a:r>
                        <a:rPr sz="1300" b="0">
                          <a:solidFill>
                            <a:srgbClr val="12191D"/>
                          </a:solidFill>
                          <a:latin typeface="Consolas"/>
                        </a:rPr>
                        <a:t>2.4σ</a:t>
                      </a:r>
                    </a:p>
                  </a:txBody>
                  <a:tcPr marL="82296" marR="82296" marT="27432" marB="27432">
                    <a:solidFill>
                      <a:srgbClr val="FFFFFF"/>
                    </a:solidFill>
                  </a:tcPr>
                </a:tc>
              </a:tr>
              <a:tr h="420624">
                <a:tc>
                  <a:txBody>
                    <a:bodyPr wrap="square"/>
                    <a:lstStyle/>
                    <a:p>
                      <a:pPr algn="l"/>
                      <a:r>
                        <a:rPr sz="1300" b="0">
                          <a:solidFill>
                            <a:srgbClr val="12191D"/>
                          </a:solidFill>
                          <a:latin typeface="Segoe UI"/>
                        </a:rPr>
                        <a:t>r=4  0.115M</a:t>
                      </a:r>
                    </a:p>
                  </a:txBody>
                  <a:tcPr marL="82296" marR="82296" marT="27432" marB="27432">
                    <a:solidFill>
                      <a:srgbClr val="FFFFFF"/>
                    </a:solidFill>
                  </a:tcPr>
                </a:tc>
                <a:tc>
                  <a:txBody>
                    <a:bodyPr wrap="square"/>
                    <a:lstStyle/>
                    <a:p>
                      <a:pPr algn="r"/>
                      <a:r>
                        <a:rPr sz="1300" b="0">
                          <a:solidFill>
                            <a:srgbClr val="12191D"/>
                          </a:solidFill>
                          <a:latin typeface="Consolas"/>
                        </a:rPr>
                        <a:t>65.53</a:t>
                      </a:r>
                    </a:p>
                  </a:txBody>
                  <a:tcPr marL="82296" marR="82296" marT="27432" marB="27432">
                    <a:solidFill>
                      <a:srgbClr val="FFFFFF"/>
                    </a:solidFill>
                  </a:tcPr>
                </a:tc>
                <a:tc>
                  <a:txBody>
                    <a:bodyPr wrap="square"/>
                    <a:lstStyle/>
                    <a:p>
                      <a:pPr algn="l"/>
                      <a:r>
                        <a:rPr sz="1300" b="0">
                          <a:solidFill>
                            <a:srgbClr val="12191D"/>
                          </a:solidFill>
                          <a:latin typeface="Consolas"/>
                        </a:rPr>
                        <a:t>r=1  0.100M</a:t>
                      </a:r>
                    </a:p>
                  </a:txBody>
                  <a:tcPr marL="82296" marR="82296" marT="27432" marB="27432">
                    <a:solidFill>
                      <a:srgbClr val="FFFFFF"/>
                    </a:solidFill>
                  </a:tcPr>
                </a:tc>
                <a:tc>
                  <a:txBody>
                    <a:bodyPr wrap="square"/>
                    <a:lstStyle/>
                    <a:p>
                      <a:pPr algn="r"/>
                      <a:r>
                        <a:rPr sz="1300" b="0">
                          <a:solidFill>
                            <a:srgbClr val="12191D"/>
                          </a:solidFill>
                          <a:latin typeface="Consolas"/>
                        </a:rPr>
                        <a:t>62.78</a:t>
                      </a:r>
                    </a:p>
                  </a:txBody>
                  <a:tcPr marL="82296" marR="82296" marT="27432" marB="27432">
                    <a:solidFill>
                      <a:srgbClr val="FFFFFF"/>
                    </a:solidFill>
                  </a:tcPr>
                </a:tc>
                <a:tc>
                  <a:txBody>
                    <a:bodyPr wrap="square"/>
                    <a:lstStyle/>
                    <a:p>
                      <a:pPr algn="l"/>
                      <a:r>
                        <a:rPr sz="1300" b="0">
                          <a:solidFill>
                            <a:srgbClr val="12191D"/>
                          </a:solidFill>
                          <a:latin typeface="Consolas"/>
                        </a:rPr>
                        <a:t>+2.75</a:t>
                      </a:r>
                    </a:p>
                  </a:txBody>
                  <a:tcPr marL="82296" marR="82296" marT="27432" marB="27432">
                    <a:solidFill>
                      <a:srgbClr val="FFFFFF"/>
                    </a:solidFill>
                  </a:tcPr>
                </a:tc>
                <a:tc>
                  <a:txBody>
                    <a:bodyPr wrap="square"/>
                    <a:lstStyle/>
                    <a:p>
                      <a:pPr algn="r"/>
                      <a:r>
                        <a:rPr sz="1300" b="0">
                          <a:solidFill>
                            <a:srgbClr val="12191D"/>
                          </a:solidFill>
                          <a:latin typeface="Consolas"/>
                        </a:rPr>
                        <a:t>2.8σ</a:t>
                      </a:r>
                    </a:p>
                  </a:txBody>
                  <a:tcPr marL="82296" marR="82296" marT="27432" marB="27432">
                    <a:solidFill>
                      <a:srgbClr val="FFFFFF"/>
                    </a:solidFill>
                  </a:tcPr>
                </a:tc>
              </a:tr>
              <a:tr h="420624">
                <a:tc>
                  <a:txBody>
                    <a:bodyPr wrap="square"/>
                    <a:lstStyle/>
                    <a:p>
                      <a:pPr algn="l"/>
                      <a:r>
                        <a:rPr sz="1300" b="0">
                          <a:solidFill>
                            <a:srgbClr val="12191D"/>
                          </a:solidFill>
                          <a:latin typeface="Segoe UI"/>
                        </a:rPr>
                        <a:t>r=8  0.229M</a:t>
                      </a:r>
                    </a:p>
                  </a:txBody>
                  <a:tcPr marL="82296" marR="82296" marT="27432" marB="27432">
                    <a:solidFill>
                      <a:srgbClr val="FFFFFF"/>
                    </a:solidFill>
                  </a:tcPr>
                </a:tc>
                <a:tc>
                  <a:txBody>
                    <a:bodyPr wrap="square"/>
                    <a:lstStyle/>
                    <a:p>
                      <a:pPr algn="r"/>
                      <a:r>
                        <a:rPr sz="1300" b="0">
                          <a:solidFill>
                            <a:srgbClr val="12191D"/>
                          </a:solidFill>
                          <a:latin typeface="Consolas"/>
                        </a:rPr>
                        <a:t>65.45</a:t>
                      </a:r>
                    </a:p>
                  </a:txBody>
                  <a:tcPr marL="82296" marR="82296" marT="27432" marB="27432">
                    <a:solidFill>
                      <a:srgbClr val="FFFFFF"/>
                    </a:solidFill>
                  </a:tcPr>
                </a:tc>
                <a:tc>
                  <a:txBody>
                    <a:bodyPr wrap="square"/>
                    <a:lstStyle/>
                    <a:p>
                      <a:pPr algn="l"/>
                      <a:r>
                        <a:rPr sz="1300" b="0">
                          <a:solidFill>
                            <a:srgbClr val="12191D"/>
                          </a:solidFill>
                          <a:latin typeface="Consolas"/>
                        </a:rPr>
                        <a:t>r=2  0.201M</a:t>
                      </a:r>
                    </a:p>
                  </a:txBody>
                  <a:tcPr marL="82296" marR="82296" marT="27432" marB="27432">
                    <a:solidFill>
                      <a:srgbClr val="FFFFFF"/>
                    </a:solidFill>
                  </a:tcPr>
                </a:tc>
                <a:tc>
                  <a:txBody>
                    <a:bodyPr wrap="square"/>
                    <a:lstStyle/>
                    <a:p>
                      <a:pPr algn="r"/>
                      <a:r>
                        <a:rPr sz="1300" b="0">
                          <a:solidFill>
                            <a:srgbClr val="12191D"/>
                          </a:solidFill>
                          <a:latin typeface="Consolas"/>
                        </a:rPr>
                        <a:t>64.24</a:t>
                      </a:r>
                    </a:p>
                  </a:txBody>
                  <a:tcPr marL="82296" marR="82296" marT="27432" marB="27432">
                    <a:solidFill>
                      <a:srgbClr val="FFFFFF"/>
                    </a:solidFill>
                  </a:tcPr>
                </a:tc>
                <a:tc>
                  <a:txBody>
                    <a:bodyPr wrap="square"/>
                    <a:lstStyle/>
                    <a:p>
                      <a:pPr algn="l"/>
                      <a:r>
                        <a:rPr sz="1300" b="0">
                          <a:solidFill>
                            <a:srgbClr val="12191D"/>
                          </a:solidFill>
                          <a:latin typeface="Consolas"/>
                        </a:rPr>
                        <a:t>+1.21</a:t>
                      </a:r>
                    </a:p>
                  </a:txBody>
                  <a:tcPr marL="82296" marR="82296" marT="27432" marB="27432">
                    <a:solidFill>
                      <a:srgbClr val="FFFFFF"/>
                    </a:solidFill>
                  </a:tcPr>
                </a:tc>
                <a:tc>
                  <a:txBody>
                    <a:bodyPr wrap="square"/>
                    <a:lstStyle/>
                    <a:p>
                      <a:pPr algn="r"/>
                      <a:r>
                        <a:rPr sz="1300" b="0">
                          <a:solidFill>
                            <a:srgbClr val="12191D"/>
                          </a:solidFill>
                          <a:latin typeface="Consolas"/>
                        </a:rPr>
                        <a:t>1.9σ</a:t>
                      </a:r>
                    </a:p>
                  </a:txBody>
                  <a:tcPr marL="82296" marR="82296" marT="27432" marB="27432">
                    <a:solidFill>
                      <a:srgbClr val="FFFFFF"/>
                    </a:solidFill>
                  </a:tcPr>
                </a:tc>
              </a:tr>
              <a:tr h="420624">
                <a:tc>
                  <a:txBody>
                    <a:bodyPr wrap="square"/>
                    <a:lstStyle/>
                    <a:p>
                      <a:pPr algn="l"/>
                      <a:r>
                        <a:rPr sz="1300" b="0">
                          <a:solidFill>
                            <a:srgbClr val="12191D"/>
                          </a:solidFill>
                          <a:latin typeface="Segoe UI"/>
                        </a:rPr>
                        <a:t>r=16  0.459M</a:t>
                      </a:r>
                    </a:p>
                  </a:txBody>
                  <a:tcPr marL="82296" marR="82296" marT="27432" marB="27432">
                    <a:solidFill>
                      <a:srgbClr val="FFFFFF"/>
                    </a:solidFill>
                  </a:tcPr>
                </a:tc>
                <a:tc>
                  <a:txBody>
                    <a:bodyPr wrap="square"/>
                    <a:lstStyle/>
                    <a:p>
                      <a:pPr algn="r"/>
                      <a:r>
                        <a:rPr sz="1300" b="0">
                          <a:solidFill>
                            <a:srgbClr val="12191D"/>
                          </a:solidFill>
                          <a:latin typeface="Consolas"/>
                        </a:rPr>
                        <a:t>65.70</a:t>
                      </a:r>
                    </a:p>
                  </a:txBody>
                  <a:tcPr marL="82296" marR="82296" marT="27432" marB="27432">
                    <a:solidFill>
                      <a:srgbClr val="FFFFFF"/>
                    </a:solidFill>
                  </a:tcPr>
                </a:tc>
                <a:tc>
                  <a:txBody>
                    <a:bodyPr wrap="square"/>
                    <a:lstStyle/>
                    <a:p>
                      <a:pPr algn="l"/>
                      <a:r>
                        <a:rPr sz="1300" b="0">
                          <a:solidFill>
                            <a:srgbClr val="12191D"/>
                          </a:solidFill>
                          <a:latin typeface="Consolas"/>
                        </a:rPr>
                        <a:t>r=4  0.401M</a:t>
                      </a:r>
                    </a:p>
                  </a:txBody>
                  <a:tcPr marL="82296" marR="82296" marT="27432" marB="27432">
                    <a:solidFill>
                      <a:srgbClr val="FFFFFF"/>
                    </a:solidFill>
                  </a:tcPr>
                </a:tc>
                <a:tc>
                  <a:txBody>
                    <a:bodyPr wrap="square"/>
                    <a:lstStyle/>
                    <a:p>
                      <a:pPr algn="r"/>
                      <a:r>
                        <a:rPr sz="1300" b="0">
                          <a:solidFill>
                            <a:srgbClr val="12191D"/>
                          </a:solidFill>
                          <a:latin typeface="Consolas"/>
                        </a:rPr>
                        <a:t>64.98</a:t>
                      </a:r>
                    </a:p>
                  </a:txBody>
                  <a:tcPr marL="82296" marR="82296" marT="27432" marB="27432">
                    <a:solidFill>
                      <a:srgbClr val="FFFFFF"/>
                    </a:solidFill>
                  </a:tcPr>
                </a:tc>
                <a:tc>
                  <a:txBody>
                    <a:bodyPr wrap="square"/>
                    <a:lstStyle/>
                    <a:p>
                      <a:pPr algn="l"/>
                      <a:r>
                        <a:rPr sz="1300" b="0">
                          <a:solidFill>
                            <a:srgbClr val="12191D"/>
                          </a:solidFill>
                          <a:latin typeface="Consolas"/>
                        </a:rPr>
                        <a:t>+0.72</a:t>
                      </a:r>
                    </a:p>
                  </a:txBody>
                  <a:tcPr marL="82296" marR="82296" marT="27432" marB="27432">
                    <a:solidFill>
                      <a:srgbClr val="FFFFFF"/>
                    </a:solidFill>
                  </a:tcPr>
                </a:tc>
                <a:tc>
                  <a:txBody>
                    <a:bodyPr wrap="square"/>
                    <a:lstStyle/>
                    <a:p>
                      <a:pPr algn="r"/>
                      <a:r>
                        <a:rPr sz="1300" b="0">
                          <a:solidFill>
                            <a:srgbClr val="12191D"/>
                          </a:solidFill>
                          <a:latin typeface="Consolas"/>
                        </a:rPr>
                        <a:t>0.9σ</a:t>
                      </a:r>
                    </a:p>
                  </a:txBody>
                  <a:tcPr marL="82296" marR="82296" marT="27432" marB="27432">
                    <a:solidFill>
                      <a:srgbClr val="FFFFFF"/>
                    </a:solidFill>
                  </a:tcPr>
                </a:tc>
              </a:tr>
            </a:tbl>
          </a:graphicData>
        </a:graphic>
      </p:graphicFrame>
      <p:sp>
        <p:nvSpPr>
          <p:cNvPr id="8" name="TextBox 7"/>
          <p:cNvSpPr txBox="1"/>
          <p:nvPr/>
        </p:nvSpPr>
        <p:spPr>
          <a:xfrm>
            <a:off x="1371600" y="5084064"/>
            <a:ext cx="9418320" cy="822960"/>
          </a:xfrm>
          <a:prstGeom prst="rect">
            <a:avLst/>
          </a:prstGeom>
          <a:noFill/>
        </p:spPr>
        <p:txBody>
          <a:bodyPr wrap="square" lIns="0" rIns="0" tIns="0" bIns="0">
            <a:spAutoFit/>
          </a:bodyPr>
          <a:lstStyle/>
          <a:p>
            <a:pPr algn="l">
              <a:lnSpc>
                <a:spcPct val="130000"/>
              </a:lnSpc>
              <a:spcAft>
                <a:spcPts val="600"/>
              </a:spcAft>
            </a:pPr>
            <a:r>
              <a:rPr sz="1400" b="1">
                <a:solidFill>
                  <a:srgbClr val="12191D"/>
                </a:solidFill>
                <a:latin typeface="Segoe UI"/>
              </a:rPr>
              <a:t>Lợi thế giảm dần theo ngân sách. </a:t>
            </a:r>
            <a:r>
              <a:rPr sz="1400" b="0">
                <a:solidFill>
                  <a:srgbClr val="54636C"/>
                </a:solidFill>
                <a:latin typeface="Segoe UI"/>
              </a:rPr>
              <a:t>Từ 4.0σ ở 0.1 M xuống 1.3σ ở 0.4 M, rồi biến mất. Ở rank 1 thì S-LoRA còn thua: 62.45 so với 62.78 — ít hơn 3.5× tham số nhưng một hướng duy nhất là quá ít để làm việc. Đây là công cụ cho chế độ ngân sách thấp, không phải hàng thay thế phổ quát.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515600" cy="274320"/>
          </a:xfrm>
          <a:prstGeom prst="rect">
            <a:avLst/>
          </a:prstGeom>
          <a:noFill/>
        </p:spPr>
        <p:txBody>
          <a:bodyPr wrap="square" lIns="0" rIns="0" tIns="0" bIns="0">
            <a:spAutoFit/>
          </a:bodyPr>
          <a:lstStyle/>
          <a:p>
            <a:pPr algn="l">
              <a:lnSpc>
                <a:spcPct val="125000"/>
              </a:lnSpc>
              <a:spcAft>
                <a:spcPts val="600"/>
              </a:spcAft>
            </a:pPr>
            <a:r>
              <a:rPr sz="1050" b="1">
                <a:solidFill>
                  <a:srgbClr val="0D6F68"/>
                </a:solidFill>
                <a:latin typeface="Consolas"/>
              </a:rPr>
              <a:t>KẾT QUẢ</a:t>
            </a:r>
          </a:p>
        </p:txBody>
      </p:sp>
      <p:sp>
        <p:nvSpPr>
          <p:cNvPr id="4" name="TextBox 3"/>
          <p:cNvSpPr txBox="1"/>
          <p:nvPr/>
        </p:nvSpPr>
        <p:spPr>
          <a:xfrm>
            <a:off x="685800" y="777240"/>
            <a:ext cx="10881360" cy="731520"/>
          </a:xfrm>
          <a:prstGeom prst="rect">
            <a:avLst/>
          </a:prstGeom>
          <a:noFill/>
        </p:spPr>
        <p:txBody>
          <a:bodyPr wrap="square" lIns="0" rIns="0" tIns="0" bIns="0">
            <a:spAutoFit/>
          </a:bodyPr>
          <a:lstStyle/>
          <a:p>
            <a:pPr algn="l">
              <a:lnSpc>
                <a:spcPct val="105000"/>
              </a:lnSpc>
              <a:spcAft>
                <a:spcPts val="600"/>
              </a:spcAft>
            </a:pPr>
            <a:r>
              <a:rPr sz="3000" b="0">
                <a:solidFill>
                  <a:srgbClr val="12191D"/>
                </a:solidFill>
                <a:latin typeface="Georgia"/>
              </a:rPr>
              <a:t>Sàn dưới và trần trên</a:t>
            </a:r>
          </a:p>
        </p:txBody>
      </p:sp>
      <p:sp>
        <p:nvSpPr>
          <p:cNvPr id="5" name="TextBox 4"/>
          <p:cNvSpPr txBox="1"/>
          <p:nvPr/>
        </p:nvSpPr>
        <p:spPr>
          <a:xfrm>
            <a:off x="685800" y="1572768"/>
            <a:ext cx="10881360" cy="365760"/>
          </a:xfrm>
          <a:prstGeom prst="rect">
            <a:avLst/>
          </a:prstGeom>
          <a:noFill/>
        </p:spPr>
        <p:txBody>
          <a:bodyPr wrap="square" lIns="0" rIns="0" tIns="0" bIns="0">
            <a:spAutoFit/>
          </a:bodyPr>
          <a:lstStyle/>
          <a:p>
            <a:pPr algn="l">
              <a:lnSpc>
                <a:spcPct val="125000"/>
              </a:lnSpc>
              <a:spcAft>
                <a:spcPts val="600"/>
              </a:spcAft>
            </a:pPr>
            <a:r>
              <a:rPr sz="1350" b="0">
                <a:solidFill>
                  <a:srgbClr val="54636C"/>
                </a:solidFill>
                <a:latin typeface="Segoe UI"/>
              </a:rPr>
              <a:t>Cái gọi là trần trên lại kém hơn.</a:t>
            </a:r>
          </a:p>
        </p:txBody>
      </p:sp>
      <p:sp>
        <p:nvSpPr>
          <p:cNvPr id="6" name="Rectangle 5"/>
          <p:cNvSpPr/>
          <p:nvPr/>
        </p:nvSpPr>
        <p:spPr>
          <a:xfrm>
            <a:off x="685800" y="2084831"/>
            <a:ext cx="10817352" cy="1097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1371600" y="2615183"/>
          <a:ext cx="9418318" cy="1720535"/>
        </p:xfrm>
        <a:graphic>
          <a:graphicData uri="http://schemas.openxmlformats.org/drawingml/2006/table">
            <a:tbl>
              <a:tblPr firstRow="1">
                <a:tableStyleId>{5C22544A-7EE6-4342-B048-85BDC9FD1C3A}</a:tableStyleId>
              </a:tblPr>
              <a:tblGrid>
                <a:gridCol w="1828799"/>
                <a:gridCol w="1371600"/>
                <a:gridCol w="1097280"/>
                <a:gridCol w="1280160"/>
                <a:gridCol w="3840479"/>
              </a:tblGrid>
              <a:tr h="403799">
                <a:tc>
                  <a:txBody>
                    <a:bodyPr wrap="square"/>
                    <a:lstStyle/>
                    <a:p>
                      <a:pPr algn="l"/>
                      <a:r>
                        <a:rPr sz="1050" b="1">
                          <a:solidFill>
                            <a:srgbClr val="7D8B94"/>
                          </a:solidFill>
                          <a:latin typeface="Consolas"/>
                        </a:rPr>
                        <a:t>cấu hình</a:t>
                      </a:r>
                    </a:p>
                  </a:txBody>
                  <a:tcPr marL="82296" marR="82296" marT="27432" marB="27432">
                    <a:solidFill>
                      <a:srgbClr val="F5F7F8"/>
                    </a:solidFill>
                  </a:tcPr>
                </a:tc>
                <a:tc>
                  <a:txBody>
                    <a:bodyPr wrap="square"/>
                    <a:lstStyle/>
                    <a:p>
                      <a:pPr algn="r"/>
                      <a:r>
                        <a:rPr sz="1050" b="1">
                          <a:solidFill>
                            <a:srgbClr val="7D8B94"/>
                          </a:solidFill>
                          <a:latin typeface="Consolas"/>
                        </a:rPr>
                        <a:t>params (M)</a:t>
                      </a:r>
                    </a:p>
                  </a:txBody>
                  <a:tcPr marL="82296" marR="82296" marT="27432" marB="27432">
                    <a:solidFill>
                      <a:srgbClr val="F5F7F8"/>
                    </a:solidFill>
                  </a:tcPr>
                </a:tc>
                <a:tc>
                  <a:txBody>
                    <a:bodyPr wrap="square"/>
                    <a:lstStyle/>
                    <a:p>
                      <a:pPr algn="r"/>
                      <a:r>
                        <a:rPr sz="1050" b="1">
                          <a:solidFill>
                            <a:srgbClr val="7D8B94"/>
                          </a:solidFill>
                          <a:latin typeface="Consolas"/>
                        </a:rPr>
                        <a:t>BLEU</a:t>
                      </a:r>
                    </a:p>
                  </a:txBody>
                  <a:tcPr marL="82296" marR="82296" marT="27432" marB="27432">
                    <a:solidFill>
                      <a:srgbClr val="F5F7F8"/>
                    </a:solidFill>
                  </a:tcPr>
                </a:tc>
                <a:tc>
                  <a:txBody>
                    <a:bodyPr wrap="square"/>
                    <a:lstStyle/>
                    <a:p>
                      <a:pPr algn="r"/>
                      <a:r>
                        <a:rPr sz="1050" b="1">
                          <a:solidFill>
                            <a:srgbClr val="7D8B94"/>
                          </a:solidFill>
                          <a:latin typeface="Consolas"/>
                        </a:rPr>
                        <a:t>ROUGE-L</a:t>
                      </a:r>
                    </a:p>
                  </a:txBody>
                  <a:tcPr marL="82296" marR="82296" marT="27432" marB="27432">
                    <a:solidFill>
                      <a:srgbClr val="F5F7F8"/>
                    </a:solidFill>
                  </a:tcPr>
                </a:tc>
                <a:tc>
                  <a:txBody>
                    <a:bodyPr wrap="square"/>
                    <a:lstStyle/>
                    <a:p>
                      <a:pPr algn="l"/>
                      <a:r>
                        <a:rPr sz="1050" b="1">
                          <a:solidFill>
                            <a:srgbClr val="7D8B94"/>
                          </a:solidFill>
                          <a:latin typeface="Consolas"/>
                        </a:rPr>
                        <a:t>ghi chú</a:t>
                      </a:r>
                    </a:p>
                  </a:txBody>
                  <a:tcPr marL="82296" marR="82296" marT="27432" marB="27432">
                    <a:solidFill>
                      <a:srgbClr val="F5F7F8"/>
                    </a:solidFill>
                  </a:tcPr>
                </a:tc>
              </a:tr>
              <a:tr h="438912">
                <a:tc>
                  <a:txBody>
                    <a:bodyPr wrap="square"/>
                    <a:lstStyle/>
                    <a:p>
                      <a:pPr algn="l"/>
                      <a:r>
                        <a:rPr sz="1300" b="0">
                          <a:solidFill>
                            <a:srgbClr val="12191D"/>
                          </a:solidFill>
                          <a:latin typeface="Segoe UI"/>
                        </a:rPr>
                        <a:t>zero-shot</a:t>
                      </a:r>
                    </a:p>
                  </a:txBody>
                  <a:tcPr marL="82296" marR="82296" marT="27432" marB="27432">
                    <a:solidFill>
                      <a:srgbClr val="FFFFFF"/>
                    </a:solidFill>
                  </a:tcPr>
                </a:tc>
                <a:tc>
                  <a:txBody>
                    <a:bodyPr wrap="square"/>
                    <a:lstStyle/>
                    <a:p>
                      <a:pPr algn="r"/>
                      <a:r>
                        <a:rPr sz="1300" b="0">
                          <a:solidFill>
                            <a:srgbClr val="12191D"/>
                          </a:solidFill>
                          <a:latin typeface="Consolas"/>
                        </a:rPr>
                        <a:t>0.000</a:t>
                      </a:r>
                    </a:p>
                  </a:txBody>
                  <a:tcPr marL="82296" marR="82296" marT="27432" marB="27432">
                    <a:solidFill>
                      <a:srgbClr val="FFFFFF"/>
                    </a:solidFill>
                  </a:tcPr>
                </a:tc>
                <a:tc>
                  <a:txBody>
                    <a:bodyPr wrap="square"/>
                    <a:lstStyle/>
                    <a:p>
                      <a:pPr algn="r"/>
                      <a:r>
                        <a:rPr sz="1300" b="0">
                          <a:solidFill>
                            <a:srgbClr val="12191D"/>
                          </a:solidFill>
                          <a:latin typeface="Consolas"/>
                        </a:rPr>
                        <a:t>33.12</a:t>
                      </a:r>
                    </a:p>
                  </a:txBody>
                  <a:tcPr marL="82296" marR="82296" marT="27432" marB="27432">
                    <a:solidFill>
                      <a:srgbClr val="FFFFFF"/>
                    </a:solidFill>
                  </a:tcPr>
                </a:tc>
                <a:tc>
                  <a:txBody>
                    <a:bodyPr wrap="square"/>
                    <a:lstStyle/>
                    <a:p>
                      <a:pPr algn="r"/>
                      <a:r>
                        <a:rPr sz="1300" b="0">
                          <a:solidFill>
                            <a:srgbClr val="12191D"/>
                          </a:solidFill>
                          <a:latin typeface="Consolas"/>
                        </a:rPr>
                        <a:t>41.89</a:t>
                      </a:r>
                    </a:p>
                  </a:txBody>
                  <a:tcPr marL="82296" marR="82296" marT="27432" marB="27432">
                    <a:solidFill>
                      <a:srgbClr val="FFFFFF"/>
                    </a:solidFill>
                  </a:tcPr>
                </a:tc>
                <a:tc>
                  <a:txBody>
                    <a:bodyPr wrap="square"/>
                    <a:lstStyle/>
                    <a:p>
                      <a:pPr algn="l"/>
                      <a:r>
                        <a:rPr sz="1300" b="0">
                          <a:solidFill>
                            <a:srgbClr val="12191D"/>
                          </a:solidFill>
                          <a:latin typeface="Consolas"/>
                        </a:rPr>
                        <a:t>model gốc, chưa train</a:t>
                      </a:r>
                    </a:p>
                  </a:txBody>
                  <a:tcPr marL="82296" marR="82296" marT="27432" marB="27432">
                    <a:solidFill>
                      <a:srgbClr val="FFFFFF"/>
                    </a:solidFill>
                  </a:tcPr>
                </a:tc>
              </a:tr>
              <a:tr h="438912">
                <a:tc>
                  <a:txBody>
                    <a:bodyPr wrap="square"/>
                    <a:lstStyle/>
                    <a:p>
                      <a:pPr algn="l"/>
                      <a:r>
                        <a:rPr sz="1300" b="0">
                          <a:solidFill>
                            <a:srgbClr val="0D6F68"/>
                          </a:solidFill>
                          <a:latin typeface="Segoe UI"/>
                        </a:rPr>
                        <a:t>S-LoRA r=2</a:t>
                      </a:r>
                    </a:p>
                  </a:txBody>
                  <a:tcPr marL="82296" marR="82296" marT="27432" marB="27432">
                    <a:solidFill>
                      <a:srgbClr val="FFFFFF"/>
                    </a:solidFill>
                  </a:tcPr>
                </a:tc>
                <a:tc>
                  <a:txBody>
                    <a:bodyPr wrap="square"/>
                    <a:lstStyle/>
                    <a:p>
                      <a:pPr algn="r"/>
                      <a:r>
                        <a:rPr sz="1300" b="0">
                          <a:solidFill>
                            <a:srgbClr val="0D6F68"/>
                          </a:solidFill>
                          <a:latin typeface="Consolas"/>
                        </a:rPr>
                        <a:t>0.057</a:t>
                      </a:r>
                    </a:p>
                  </a:txBody>
                  <a:tcPr marL="82296" marR="82296" marT="27432" marB="27432">
                    <a:solidFill>
                      <a:srgbClr val="FFFFFF"/>
                    </a:solidFill>
                  </a:tcPr>
                </a:tc>
                <a:tc>
                  <a:txBody>
                    <a:bodyPr wrap="square"/>
                    <a:lstStyle/>
                    <a:p>
                      <a:pPr algn="r"/>
                      <a:r>
                        <a:rPr sz="1300" b="0">
                          <a:solidFill>
                            <a:srgbClr val="0D6F68"/>
                          </a:solidFill>
                          <a:latin typeface="Consolas"/>
                        </a:rPr>
                        <a:t>65.22</a:t>
                      </a:r>
                    </a:p>
                  </a:txBody>
                  <a:tcPr marL="82296" marR="82296" marT="27432" marB="27432">
                    <a:solidFill>
                      <a:srgbClr val="FFFFFF"/>
                    </a:solidFill>
                  </a:tcPr>
                </a:tc>
                <a:tc>
                  <a:txBody>
                    <a:bodyPr wrap="square"/>
                    <a:lstStyle/>
                    <a:p>
                      <a:pPr algn="r"/>
                      <a:r>
                        <a:rPr sz="1300" b="0">
                          <a:solidFill>
                            <a:srgbClr val="0D6F68"/>
                          </a:solidFill>
                          <a:latin typeface="Consolas"/>
                        </a:rPr>
                        <a:t>67.41</a:t>
                      </a:r>
                    </a:p>
                  </a:txBody>
                  <a:tcPr marL="82296" marR="82296" marT="27432" marB="27432">
                    <a:solidFill>
                      <a:srgbClr val="FFFFFF"/>
                    </a:solidFill>
                  </a:tcPr>
                </a:tc>
                <a:tc>
                  <a:txBody>
                    <a:bodyPr wrap="square"/>
                    <a:lstStyle/>
                    <a:p>
                      <a:pPr algn="l"/>
                      <a:r>
                        <a:rPr sz="1300" b="0">
                          <a:solidFill>
                            <a:srgbClr val="0D6F68"/>
                          </a:solidFill>
                          <a:latin typeface="Consolas"/>
                        </a:rPr>
                        <a:t>điểm vận hành rẻ nhất còn giữ chất lượng</a:t>
                      </a:r>
                    </a:p>
                  </a:txBody>
                  <a:tcPr marL="82296" marR="82296" marT="27432" marB="27432">
                    <a:solidFill>
                      <a:srgbClr val="FFFFFF"/>
                    </a:solidFill>
                  </a:tcPr>
                </a:tc>
              </a:tr>
              <a:tr h="438912">
                <a:tc>
                  <a:txBody>
                    <a:bodyPr wrap="square"/>
                    <a:lstStyle/>
                    <a:p>
                      <a:pPr algn="l"/>
                      <a:r>
                        <a:rPr sz="1300" b="0">
                          <a:solidFill>
                            <a:srgbClr val="12191D"/>
                          </a:solidFill>
                          <a:latin typeface="Segoe UI"/>
                        </a:rPr>
                        <a:t>target-ft</a:t>
                      </a:r>
                    </a:p>
                  </a:txBody>
                  <a:tcPr marL="82296" marR="82296" marT="27432" marB="27432">
                    <a:solidFill>
                      <a:srgbClr val="FFFFFF"/>
                    </a:solidFill>
                  </a:tcPr>
                </a:tc>
                <a:tc>
                  <a:txBody>
                    <a:bodyPr wrap="square"/>
                    <a:lstStyle/>
                    <a:p>
                      <a:pPr algn="r"/>
                      <a:r>
                        <a:rPr sz="1300" b="0">
                          <a:solidFill>
                            <a:srgbClr val="12191D"/>
                          </a:solidFill>
                          <a:latin typeface="Consolas"/>
                        </a:rPr>
                        <a:t>22.034</a:t>
                      </a:r>
                    </a:p>
                  </a:txBody>
                  <a:tcPr marL="82296" marR="82296" marT="27432" marB="27432">
                    <a:solidFill>
                      <a:srgbClr val="FFFFFF"/>
                    </a:solidFill>
                  </a:tcPr>
                </a:tc>
                <a:tc>
                  <a:txBody>
                    <a:bodyPr wrap="square"/>
                    <a:lstStyle/>
                    <a:p>
                      <a:pPr algn="r"/>
                      <a:r>
                        <a:rPr sz="1300" b="0">
                          <a:solidFill>
                            <a:srgbClr val="12191D"/>
                          </a:solidFill>
                          <a:latin typeface="Consolas"/>
                        </a:rPr>
                        <a:t>64.26</a:t>
                      </a:r>
                    </a:p>
                  </a:txBody>
                  <a:tcPr marL="82296" marR="82296" marT="27432" marB="27432">
                    <a:solidFill>
                      <a:srgbClr val="FFFFFF"/>
                    </a:solidFill>
                  </a:tcPr>
                </a:tc>
                <a:tc>
                  <a:txBody>
                    <a:bodyPr wrap="square"/>
                    <a:lstStyle/>
                    <a:p>
                      <a:pPr algn="r"/>
                      <a:r>
                        <a:rPr sz="1300" b="0">
                          <a:solidFill>
                            <a:srgbClr val="12191D"/>
                          </a:solidFill>
                          <a:latin typeface="Consolas"/>
                        </a:rPr>
                        <a:t>67.19</a:t>
                      </a:r>
                    </a:p>
                  </a:txBody>
                  <a:tcPr marL="82296" marR="82296" marT="27432" marB="27432">
                    <a:solidFill>
                      <a:srgbClr val="FFFFFF"/>
                    </a:solidFill>
                  </a:tcPr>
                </a:tc>
                <a:tc>
                  <a:txBody>
                    <a:bodyPr wrap="square"/>
                    <a:lstStyle/>
                    <a:p>
                      <a:pPr algn="l"/>
                      <a:r>
                        <a:rPr sz="1300" b="0">
                          <a:solidFill>
                            <a:srgbClr val="12191D"/>
                          </a:solidFill>
                          <a:latin typeface="Consolas"/>
                        </a:rPr>
                        <a:t>train tự do chính k_proj + v_proj</a:t>
                      </a:r>
                    </a:p>
                  </a:txBody>
                  <a:tcPr marL="82296" marR="82296" marT="27432" marB="27432">
                    <a:solidFill>
                      <a:srgbClr val="FFFFFF"/>
                    </a:solidFill>
                  </a:tcPr>
                </a:tc>
              </a:tr>
            </a:tbl>
          </a:graphicData>
        </a:graphic>
      </p:graphicFrame>
      <p:sp>
        <p:nvSpPr>
          <p:cNvPr id="8" name="TextBox 7"/>
          <p:cNvSpPr txBox="1"/>
          <p:nvPr/>
        </p:nvSpPr>
        <p:spPr>
          <a:xfrm>
            <a:off x="1371600" y="4718304"/>
            <a:ext cx="9418320" cy="1280160"/>
          </a:xfrm>
          <a:prstGeom prst="rect">
            <a:avLst/>
          </a:prstGeom>
          <a:noFill/>
        </p:spPr>
        <p:txBody>
          <a:bodyPr wrap="square" lIns="0" rIns="0" tIns="0" bIns="0">
            <a:spAutoFit/>
          </a:bodyPr>
          <a:lstStyle/>
          <a:p>
            <a:pPr algn="l">
              <a:lnSpc>
                <a:spcPct val="130000"/>
              </a:lnSpc>
              <a:spcAft>
                <a:spcPts val="600"/>
              </a:spcAft>
            </a:pPr>
            <a:r>
              <a:rPr sz="1400" b="1">
                <a:solidFill>
                  <a:srgbClr val="12191D"/>
                </a:solidFill>
                <a:latin typeface="Segoe UI"/>
              </a:rPr>
              <a:t>target-ft train tự do 22.0 M tham số nhưng chỉ được 64.26 BLEU — thấp hơn S-LoRA r=2 với 0.057 M, tức ít hơn 384 lần.</a:t>
            </a:r>
          </a:p>
          <a:p>
            <a:pPr algn="l">
              <a:lnSpc>
                <a:spcPct val="130000"/>
              </a:lnSpc>
              <a:spcAft>
                <a:spcPts val="600"/>
              </a:spcAft>
            </a:pPr>
            <a:r>
              <a:rPr sz="1400" b="0">
                <a:solidFill>
                  <a:srgbClr val="54636C"/>
                </a:solidFill>
                <a:latin typeface="Segoe UI"/>
              </a:rPr>
              <a:t>Nó có val loss tốt nhất bảng (1.1107) nhưng overfit rõ: khoảng cách train/val nới từ +0.073 lên +0.277 và val chạm đáy ngay epoch 2. Lưu ý lr của nó là 5e-5 và chưa được tune — đừng bán con số này mạnh hơn mức nó chịu được.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515600" cy="274320"/>
          </a:xfrm>
          <a:prstGeom prst="rect">
            <a:avLst/>
          </a:prstGeom>
          <a:noFill/>
        </p:spPr>
        <p:txBody>
          <a:bodyPr wrap="square" lIns="0" rIns="0" tIns="0" bIns="0">
            <a:spAutoFit/>
          </a:bodyPr>
          <a:lstStyle/>
          <a:p>
            <a:pPr algn="l">
              <a:lnSpc>
                <a:spcPct val="125000"/>
              </a:lnSpc>
              <a:spcAft>
                <a:spcPts val="600"/>
              </a:spcAft>
            </a:pPr>
            <a:r>
              <a:rPr sz="1050" b="1">
                <a:solidFill>
                  <a:srgbClr val="0D6F68"/>
                </a:solidFill>
                <a:latin typeface="Consolas"/>
              </a:rPr>
              <a:t>CHI PHÍ</a:t>
            </a:r>
          </a:p>
        </p:txBody>
      </p:sp>
      <p:sp>
        <p:nvSpPr>
          <p:cNvPr id="4" name="TextBox 3"/>
          <p:cNvSpPr txBox="1"/>
          <p:nvPr/>
        </p:nvSpPr>
        <p:spPr>
          <a:xfrm>
            <a:off x="685800" y="777240"/>
            <a:ext cx="10881360" cy="731520"/>
          </a:xfrm>
          <a:prstGeom prst="rect">
            <a:avLst/>
          </a:prstGeom>
          <a:noFill/>
        </p:spPr>
        <p:txBody>
          <a:bodyPr wrap="square" lIns="0" rIns="0" tIns="0" bIns="0">
            <a:spAutoFit/>
          </a:bodyPr>
          <a:lstStyle/>
          <a:p>
            <a:pPr algn="l">
              <a:lnSpc>
                <a:spcPct val="105000"/>
              </a:lnSpc>
              <a:spcAft>
                <a:spcPts val="600"/>
              </a:spcAft>
            </a:pPr>
            <a:r>
              <a:rPr sz="3000" b="0">
                <a:solidFill>
                  <a:srgbClr val="12191D"/>
                </a:solidFill>
                <a:latin typeface="Georgia"/>
              </a:rPr>
              <a:t>Train chậm hơn 2%, inference bằng nhau</a:t>
            </a:r>
          </a:p>
        </p:txBody>
      </p:sp>
      <p:sp>
        <p:nvSpPr>
          <p:cNvPr id="5" name="TextBox 4"/>
          <p:cNvSpPr txBox="1"/>
          <p:nvPr/>
        </p:nvSpPr>
        <p:spPr>
          <a:xfrm>
            <a:off x="685800" y="1572768"/>
            <a:ext cx="10881360" cy="365760"/>
          </a:xfrm>
          <a:prstGeom prst="rect">
            <a:avLst/>
          </a:prstGeom>
          <a:noFill/>
        </p:spPr>
        <p:txBody>
          <a:bodyPr wrap="square" lIns="0" rIns="0" tIns="0" bIns="0">
            <a:spAutoFit/>
          </a:bodyPr>
          <a:lstStyle/>
          <a:p>
            <a:pPr algn="l">
              <a:lnSpc>
                <a:spcPct val="125000"/>
              </a:lnSpc>
              <a:spcAft>
                <a:spcPts val="600"/>
              </a:spcAft>
            </a:pPr>
            <a:r>
              <a:rPr sz="1350" b="0">
                <a:solidFill>
                  <a:srgbClr val="54636C"/>
                </a:solidFill>
                <a:latin typeface="Segoe UI"/>
              </a:rPr>
              <a:t>Độ trễ đo trên batch cố định 8×128, trung vị 20 lần, có sync CUDA.</a:t>
            </a:r>
          </a:p>
        </p:txBody>
      </p:sp>
      <p:sp>
        <p:nvSpPr>
          <p:cNvPr id="6" name="Rectangle 5"/>
          <p:cNvSpPr/>
          <p:nvPr/>
        </p:nvSpPr>
        <p:spPr>
          <a:xfrm>
            <a:off x="685800" y="2084831"/>
            <a:ext cx="10817352" cy="1097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1371600" y="2615183"/>
          <a:ext cx="9418319" cy="2490094"/>
        </p:xfrm>
        <a:graphic>
          <a:graphicData uri="http://schemas.openxmlformats.org/drawingml/2006/table">
            <a:tbl>
              <a:tblPr firstRow="1">
                <a:tableStyleId>{5C22544A-7EE6-4342-B048-85BDC9FD1C3A}</a:tableStyleId>
              </a:tblPr>
              <a:tblGrid>
                <a:gridCol w="2926080"/>
                <a:gridCol w="1463040"/>
                <a:gridCol w="1463040"/>
                <a:gridCol w="3566159"/>
              </a:tblGrid>
              <a:tr h="386974">
                <a:tc>
                  <a:txBody>
                    <a:bodyPr wrap="square"/>
                    <a:lstStyle/>
                    <a:p>
                      <a:pPr algn="l"/>
                      <a:r>
                        <a:rPr sz="1050" b="1">
                          <a:solidFill>
                            <a:srgbClr val="7D8B94"/>
                          </a:solidFill>
                          <a:latin typeface="Consolas"/>
                        </a:rPr>
                        <a:t/>
                      </a:r>
                    </a:p>
                  </a:txBody>
                  <a:tcPr marL="82296" marR="82296" marT="27432" marB="27432">
                    <a:solidFill>
                      <a:srgbClr val="F5F7F8"/>
                    </a:solidFill>
                  </a:tcPr>
                </a:tc>
                <a:tc>
                  <a:txBody>
                    <a:bodyPr wrap="square"/>
                    <a:lstStyle/>
                    <a:p>
                      <a:pPr algn="r"/>
                      <a:r>
                        <a:rPr sz="1050" b="1">
                          <a:solidFill>
                            <a:srgbClr val="7D8B94"/>
                          </a:solidFill>
                          <a:latin typeface="Consolas"/>
                        </a:rPr>
                        <a:t>S-LoRA</a:t>
                      </a:r>
                    </a:p>
                  </a:txBody>
                  <a:tcPr marL="82296" marR="82296" marT="27432" marB="27432">
                    <a:solidFill>
                      <a:srgbClr val="F5F7F8"/>
                    </a:solidFill>
                  </a:tcPr>
                </a:tc>
                <a:tc>
                  <a:txBody>
                    <a:bodyPr wrap="square"/>
                    <a:lstStyle/>
                    <a:p>
                      <a:pPr algn="r"/>
                      <a:r>
                        <a:rPr sz="1050" b="1">
                          <a:solidFill>
                            <a:srgbClr val="7D8B94"/>
                          </a:solidFill>
                          <a:latin typeface="Consolas"/>
                        </a:rPr>
                        <a:t>LoRA</a:t>
                      </a:r>
                    </a:p>
                  </a:txBody>
                  <a:tcPr marL="82296" marR="82296" marT="27432" marB="27432">
                    <a:solidFill>
                      <a:srgbClr val="F5F7F8"/>
                    </a:solidFill>
                  </a:tcPr>
                </a:tc>
                <a:tc>
                  <a:txBody>
                    <a:bodyPr wrap="square"/>
                    <a:lstStyle/>
                    <a:p>
                      <a:pPr algn="l"/>
                      <a:r>
                        <a:rPr sz="1050" b="1">
                          <a:solidFill>
                            <a:srgbClr val="7D8B94"/>
                          </a:solidFill>
                          <a:latin typeface="Consolas"/>
                        </a:rPr>
                        <a:t>chênh</a:t>
                      </a:r>
                    </a:p>
                  </a:txBody>
                  <a:tcPr marL="82296" marR="82296" marT="27432" marB="27432">
                    <a:solidFill>
                      <a:srgbClr val="F5F7F8"/>
                    </a:solidFill>
                  </a:tcPr>
                </a:tc>
              </a:tr>
              <a:tr h="420624">
                <a:tc>
                  <a:txBody>
                    <a:bodyPr wrap="square"/>
                    <a:lstStyle/>
                    <a:p>
                      <a:pPr algn="l"/>
                      <a:r>
                        <a:rPr sz="1300" b="0">
                          <a:solidFill>
                            <a:srgbClr val="12191D"/>
                          </a:solidFill>
                          <a:latin typeface="Segoe UI"/>
                        </a:rPr>
                        <a:t>phân rã một lần (s)</a:t>
                      </a:r>
                    </a:p>
                  </a:txBody>
                  <a:tcPr marL="82296" marR="82296" marT="27432" marB="27432">
                    <a:solidFill>
                      <a:srgbClr val="FFFFFF"/>
                    </a:solidFill>
                  </a:tcPr>
                </a:tc>
                <a:tc>
                  <a:txBody>
                    <a:bodyPr wrap="square"/>
                    <a:lstStyle/>
                    <a:p>
                      <a:pPr algn="r"/>
                      <a:r>
                        <a:rPr sz="1300" b="0">
                          <a:solidFill>
                            <a:srgbClr val="12191D"/>
                          </a:solidFill>
                          <a:latin typeface="Consolas"/>
                        </a:rPr>
                        <a:t>8.2</a:t>
                      </a:r>
                    </a:p>
                  </a:txBody>
                  <a:tcPr marL="82296" marR="82296" marT="27432" marB="27432">
                    <a:solidFill>
                      <a:srgbClr val="FFFFFF"/>
                    </a:solidFill>
                  </a:tcPr>
                </a:tc>
                <a:tc>
                  <a:txBody>
                    <a:bodyPr wrap="square"/>
                    <a:lstStyle/>
                    <a:p>
                      <a:pPr algn="r"/>
                      <a:r>
                        <a:rPr sz="1300" b="0">
                          <a:solidFill>
                            <a:srgbClr val="12191D"/>
                          </a:solidFill>
                          <a:latin typeface="Consolas"/>
                        </a:rPr>
                        <a:t>1.7</a:t>
                      </a:r>
                    </a:p>
                  </a:txBody>
                  <a:tcPr marL="82296" marR="82296" marT="27432" marB="27432">
                    <a:solidFill>
                      <a:srgbClr val="FFFFFF"/>
                    </a:solidFill>
                  </a:tcPr>
                </a:tc>
                <a:tc>
                  <a:txBody>
                    <a:bodyPr wrap="square"/>
                    <a:lstStyle/>
                    <a:p>
                      <a:pPr algn="l"/>
                      <a:r>
                        <a:rPr sz="1300" b="0">
                          <a:solidFill>
                            <a:srgbClr val="12191D"/>
                          </a:solidFill>
                          <a:latin typeface="Consolas"/>
                        </a:rPr>
                        <a:t>một lần, lúc dựng model</a:t>
                      </a:r>
                    </a:p>
                  </a:txBody>
                  <a:tcPr marL="82296" marR="82296" marT="27432" marB="27432">
                    <a:solidFill>
                      <a:srgbClr val="FFFFFF"/>
                    </a:solidFill>
                  </a:tcPr>
                </a:tc>
              </a:tr>
              <a:tr h="420624">
                <a:tc>
                  <a:txBody>
                    <a:bodyPr wrap="square"/>
                    <a:lstStyle/>
                    <a:p>
                      <a:pPr algn="l"/>
                      <a:r>
                        <a:rPr sz="1300" b="0">
                          <a:solidFill>
                            <a:srgbClr val="12191D"/>
                          </a:solidFill>
                          <a:latin typeface="Segoe UI"/>
                        </a:rPr>
                        <a:t>train (it/s)</a:t>
                      </a:r>
                    </a:p>
                  </a:txBody>
                  <a:tcPr marL="82296" marR="82296" marT="27432" marB="27432">
                    <a:solidFill>
                      <a:srgbClr val="FFFFFF"/>
                    </a:solidFill>
                  </a:tcPr>
                </a:tc>
                <a:tc>
                  <a:txBody>
                    <a:bodyPr wrap="square"/>
                    <a:lstStyle/>
                    <a:p>
                      <a:pPr algn="r"/>
                      <a:r>
                        <a:rPr sz="1300" b="0">
                          <a:solidFill>
                            <a:srgbClr val="12191D"/>
                          </a:solidFill>
                          <a:latin typeface="Consolas"/>
                        </a:rPr>
                        <a:t>6.12</a:t>
                      </a:r>
                    </a:p>
                  </a:txBody>
                  <a:tcPr marL="82296" marR="82296" marT="27432" marB="27432">
                    <a:solidFill>
                      <a:srgbClr val="FFFFFF"/>
                    </a:solidFill>
                  </a:tcPr>
                </a:tc>
                <a:tc>
                  <a:txBody>
                    <a:bodyPr wrap="square"/>
                    <a:lstStyle/>
                    <a:p>
                      <a:pPr algn="r"/>
                      <a:r>
                        <a:rPr sz="1300" b="0">
                          <a:solidFill>
                            <a:srgbClr val="12191D"/>
                          </a:solidFill>
                          <a:latin typeface="Consolas"/>
                        </a:rPr>
                        <a:t>6.25</a:t>
                      </a:r>
                    </a:p>
                  </a:txBody>
                  <a:tcPr marL="82296" marR="82296" marT="27432" marB="27432">
                    <a:solidFill>
                      <a:srgbClr val="FFFFFF"/>
                    </a:solidFill>
                  </a:tcPr>
                </a:tc>
                <a:tc>
                  <a:txBody>
                    <a:bodyPr wrap="square"/>
                    <a:lstStyle/>
                    <a:p>
                      <a:pPr algn="l"/>
                      <a:r>
                        <a:rPr sz="1300" b="0">
                          <a:solidFill>
                            <a:srgbClr val="12191D"/>
                          </a:solidFill>
                          <a:latin typeface="Consolas"/>
                        </a:rPr>
                        <a:t>−2%</a:t>
                      </a:r>
                    </a:p>
                  </a:txBody>
                  <a:tcPr marL="82296" marR="82296" marT="27432" marB="27432">
                    <a:solidFill>
                      <a:srgbClr val="FFFFFF"/>
                    </a:solidFill>
                  </a:tcPr>
                </a:tc>
              </a:tr>
              <a:tr h="420624">
                <a:tc>
                  <a:txBody>
                    <a:bodyPr wrap="square"/>
                    <a:lstStyle/>
                    <a:p>
                      <a:pPr algn="l"/>
                      <a:r>
                        <a:rPr sz="1300" b="0">
                          <a:solidFill>
                            <a:srgbClr val="12191D"/>
                          </a:solidFill>
                          <a:latin typeface="Segoe UI"/>
                        </a:rPr>
                        <a:t>fwd+bwd (ms)</a:t>
                      </a:r>
                    </a:p>
                  </a:txBody>
                  <a:tcPr marL="82296" marR="82296" marT="27432" marB="27432">
                    <a:solidFill>
                      <a:srgbClr val="FFFFFF"/>
                    </a:solidFill>
                  </a:tcPr>
                </a:tc>
                <a:tc>
                  <a:txBody>
                    <a:bodyPr wrap="square"/>
                    <a:lstStyle/>
                    <a:p>
                      <a:pPr algn="r"/>
                      <a:r>
                        <a:rPr sz="1300" b="0">
                          <a:solidFill>
                            <a:srgbClr val="12191D"/>
                          </a:solidFill>
                          <a:latin typeface="Consolas"/>
                        </a:rPr>
                        <a:t>320</a:t>
                      </a:r>
                    </a:p>
                  </a:txBody>
                  <a:tcPr marL="82296" marR="82296" marT="27432" marB="27432">
                    <a:solidFill>
                      <a:srgbClr val="FFFFFF"/>
                    </a:solidFill>
                  </a:tcPr>
                </a:tc>
                <a:tc>
                  <a:txBody>
                    <a:bodyPr wrap="square"/>
                    <a:lstStyle/>
                    <a:p>
                      <a:pPr algn="r"/>
                      <a:r>
                        <a:rPr sz="1300" b="0">
                          <a:solidFill>
                            <a:srgbClr val="12191D"/>
                          </a:solidFill>
                          <a:latin typeface="Consolas"/>
                        </a:rPr>
                        <a:t>314</a:t>
                      </a:r>
                    </a:p>
                  </a:txBody>
                  <a:tcPr marL="82296" marR="82296" marT="27432" marB="27432">
                    <a:solidFill>
                      <a:srgbClr val="FFFFFF"/>
                    </a:solidFill>
                  </a:tcPr>
                </a:tc>
                <a:tc>
                  <a:txBody>
                    <a:bodyPr wrap="square"/>
                    <a:lstStyle/>
                    <a:p>
                      <a:pPr algn="l"/>
                      <a:r>
                        <a:rPr sz="1300" b="0">
                          <a:solidFill>
                            <a:srgbClr val="12191D"/>
                          </a:solidFill>
                          <a:latin typeface="Consolas"/>
                        </a:rPr>
                        <a:t>+2%</a:t>
                      </a:r>
                    </a:p>
                  </a:txBody>
                  <a:tcPr marL="82296" marR="82296" marT="27432" marB="27432">
                    <a:solidFill>
                      <a:srgbClr val="FFFFFF"/>
                    </a:solidFill>
                  </a:tcPr>
                </a:tc>
              </a:tr>
              <a:tr h="420624">
                <a:tc>
                  <a:txBody>
                    <a:bodyPr wrap="square"/>
                    <a:lstStyle/>
                    <a:p>
                      <a:pPr algn="l"/>
                      <a:r>
                        <a:rPr sz="1300" b="0">
                          <a:solidFill>
                            <a:srgbClr val="12191D"/>
                          </a:solidFill>
                          <a:latin typeface="Segoe UI"/>
                        </a:rPr>
                        <a:t>VRAM đỉnh (GB)</a:t>
                      </a:r>
                    </a:p>
                  </a:txBody>
                  <a:tcPr marL="82296" marR="82296" marT="27432" marB="27432">
                    <a:solidFill>
                      <a:srgbClr val="FFFFFF"/>
                    </a:solidFill>
                  </a:tcPr>
                </a:tc>
                <a:tc>
                  <a:txBody>
                    <a:bodyPr wrap="square"/>
                    <a:lstStyle/>
                    <a:p>
                      <a:pPr algn="r"/>
                      <a:r>
                        <a:rPr sz="1300" b="0">
                          <a:solidFill>
                            <a:srgbClr val="12191D"/>
                          </a:solidFill>
                          <a:latin typeface="Consolas"/>
                        </a:rPr>
                        <a:t>11.56</a:t>
                      </a:r>
                    </a:p>
                  </a:txBody>
                  <a:tcPr marL="82296" marR="82296" marT="27432" marB="27432">
                    <a:solidFill>
                      <a:srgbClr val="FFFFFF"/>
                    </a:solidFill>
                  </a:tcPr>
                </a:tc>
                <a:tc>
                  <a:txBody>
                    <a:bodyPr wrap="square"/>
                    <a:lstStyle/>
                    <a:p>
                      <a:pPr algn="r"/>
                      <a:r>
                        <a:rPr sz="1300" b="0">
                          <a:solidFill>
                            <a:srgbClr val="12191D"/>
                          </a:solidFill>
                          <a:latin typeface="Consolas"/>
                        </a:rPr>
                        <a:t>11.67</a:t>
                      </a:r>
                    </a:p>
                  </a:txBody>
                  <a:tcPr marL="82296" marR="82296" marT="27432" marB="27432">
                    <a:solidFill>
                      <a:srgbClr val="FFFFFF"/>
                    </a:solidFill>
                  </a:tcPr>
                </a:tc>
                <a:tc>
                  <a:txBody>
                    <a:bodyPr wrap="square"/>
                    <a:lstStyle/>
                    <a:p>
                      <a:pPr algn="l"/>
                      <a:r>
                        <a:rPr sz="1300" b="0">
                          <a:solidFill>
                            <a:srgbClr val="12191D"/>
                          </a:solidFill>
                          <a:latin typeface="Consolas"/>
                        </a:rPr>
                        <a:t>−0.9%</a:t>
                      </a:r>
                    </a:p>
                  </a:txBody>
                  <a:tcPr marL="82296" marR="82296" marT="27432" marB="27432">
                    <a:solidFill>
                      <a:srgbClr val="FFFFFF"/>
                    </a:solidFill>
                  </a:tcPr>
                </a:tc>
              </a:tr>
              <a:tr h="420624">
                <a:tc>
                  <a:txBody>
                    <a:bodyPr wrap="square"/>
                    <a:lstStyle/>
                    <a:p>
                      <a:pPr algn="l"/>
                      <a:r>
                        <a:rPr sz="1300" b="0">
                          <a:solidFill>
                            <a:srgbClr val="12191D"/>
                          </a:solidFill>
                          <a:latin typeface="Segoe UI"/>
                        </a:rPr>
                        <a:t>fwd sau khi gộp (ms)</a:t>
                      </a:r>
                    </a:p>
                  </a:txBody>
                  <a:tcPr marL="82296" marR="82296" marT="27432" marB="27432">
                    <a:solidFill>
                      <a:srgbClr val="FFFFFF"/>
                    </a:solidFill>
                  </a:tcPr>
                </a:tc>
                <a:tc>
                  <a:txBody>
                    <a:bodyPr wrap="square"/>
                    <a:lstStyle/>
                    <a:p>
                      <a:pPr algn="r"/>
                      <a:r>
                        <a:rPr sz="1300" b="0">
                          <a:solidFill>
                            <a:srgbClr val="12191D"/>
                          </a:solidFill>
                          <a:latin typeface="Consolas"/>
                        </a:rPr>
                        <a:t>131</a:t>
                      </a:r>
                    </a:p>
                  </a:txBody>
                  <a:tcPr marL="82296" marR="82296" marT="27432" marB="27432">
                    <a:solidFill>
                      <a:srgbClr val="FFFFFF"/>
                    </a:solidFill>
                  </a:tcPr>
                </a:tc>
                <a:tc>
                  <a:txBody>
                    <a:bodyPr wrap="square"/>
                    <a:lstStyle/>
                    <a:p>
                      <a:pPr algn="r"/>
                      <a:r>
                        <a:rPr sz="1300" b="0">
                          <a:solidFill>
                            <a:srgbClr val="12191D"/>
                          </a:solidFill>
                          <a:latin typeface="Consolas"/>
                        </a:rPr>
                        <a:t>132</a:t>
                      </a:r>
                    </a:p>
                  </a:txBody>
                  <a:tcPr marL="82296" marR="82296" marT="27432" marB="27432">
                    <a:solidFill>
                      <a:srgbClr val="FFFFFF"/>
                    </a:solidFill>
                  </a:tcPr>
                </a:tc>
                <a:tc>
                  <a:txBody>
                    <a:bodyPr wrap="square"/>
                    <a:lstStyle/>
                    <a:p>
                      <a:pPr algn="l"/>
                      <a:r>
                        <a:rPr sz="1300" b="0">
                          <a:solidFill>
                            <a:srgbClr val="12191D"/>
                          </a:solidFill>
                          <a:latin typeface="Consolas"/>
                        </a:rPr>
                        <a:t>trong nhiễu đo</a:t>
                      </a:r>
                    </a:p>
                  </a:txBody>
                  <a:tcPr marL="82296" marR="82296" marT="27432" marB="27432">
                    <a:solidFill>
                      <a:srgbClr val="FFFFFF"/>
                    </a:solidFill>
                  </a:tcPr>
                </a:tc>
              </a:tr>
            </a:tbl>
          </a:graphicData>
        </a:graphic>
      </p:graphicFrame>
      <p:sp>
        <p:nvSpPr>
          <p:cNvPr id="8" name="TextBox 7"/>
          <p:cNvSpPr txBox="1"/>
          <p:nvPr/>
        </p:nvSpPr>
        <p:spPr>
          <a:xfrm>
            <a:off x="1371600" y="5404104"/>
            <a:ext cx="9418320" cy="731520"/>
          </a:xfrm>
          <a:prstGeom prst="rect">
            <a:avLst/>
          </a:prstGeom>
          <a:noFill/>
        </p:spPr>
        <p:txBody>
          <a:bodyPr wrap="square" lIns="0" rIns="0" tIns="0" bIns="0">
            <a:spAutoFit/>
          </a:bodyPr>
          <a:lstStyle/>
          <a:p>
            <a:pPr algn="l">
              <a:lnSpc>
                <a:spcPct val="125000"/>
              </a:lnSpc>
              <a:spcAft>
                <a:spcPts val="600"/>
              </a:spcAft>
            </a:pPr>
            <a:r>
              <a:rPr sz="1450" b="1">
                <a:solidFill>
                  <a:srgbClr val="12191D"/>
                </a:solidFill>
                <a:latin typeface="Segoe UI"/>
              </a:rPr>
              <a:t>Sau khi gộp, hai bên bằng nhau. </a:t>
            </a:r>
            <a:r>
              <a:rPr sz="1450" b="0">
                <a:solidFill>
                  <a:srgbClr val="54636C"/>
                </a:solidFill>
                <a:latin typeface="Segoe UI"/>
              </a:rPr>
              <a:t>Chi phí duy nhất của S-LoRA nằm ở lúc train, cộng một lần phân rã khoảng 10 giây. Deploy không phải trả gì.</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515600" cy="274320"/>
          </a:xfrm>
          <a:prstGeom prst="rect">
            <a:avLst/>
          </a:prstGeom>
          <a:noFill/>
        </p:spPr>
        <p:txBody>
          <a:bodyPr wrap="square" lIns="0" rIns="0" tIns="0" bIns="0">
            <a:spAutoFit/>
          </a:bodyPr>
          <a:lstStyle/>
          <a:p>
            <a:pPr algn="l">
              <a:lnSpc>
                <a:spcPct val="125000"/>
              </a:lnSpc>
              <a:spcAft>
                <a:spcPts val="600"/>
              </a:spcAft>
            </a:pPr>
            <a:r>
              <a:rPr sz="1050" b="1">
                <a:solidFill>
                  <a:srgbClr val="0D6F68"/>
                </a:solidFill>
                <a:latin typeface="Consolas"/>
              </a:rPr>
              <a:t>TRUNG THỰC</a:t>
            </a:r>
          </a:p>
        </p:txBody>
      </p:sp>
      <p:sp>
        <p:nvSpPr>
          <p:cNvPr id="4" name="TextBox 3"/>
          <p:cNvSpPr txBox="1"/>
          <p:nvPr/>
        </p:nvSpPr>
        <p:spPr>
          <a:xfrm>
            <a:off x="685800" y="777240"/>
            <a:ext cx="10881360" cy="731520"/>
          </a:xfrm>
          <a:prstGeom prst="rect">
            <a:avLst/>
          </a:prstGeom>
          <a:noFill/>
        </p:spPr>
        <p:txBody>
          <a:bodyPr wrap="square" lIns="0" rIns="0" tIns="0" bIns="0">
            <a:spAutoFit/>
          </a:bodyPr>
          <a:lstStyle/>
          <a:p>
            <a:pPr algn="l">
              <a:lnSpc>
                <a:spcPct val="105000"/>
              </a:lnSpc>
              <a:spcAft>
                <a:spcPts val="600"/>
              </a:spcAft>
            </a:pPr>
            <a:r>
              <a:rPr sz="3000" b="0">
                <a:solidFill>
                  <a:srgbClr val="12191D"/>
                </a:solidFill>
                <a:latin typeface="Georgia"/>
              </a:rPr>
              <a:t>Những gì còn thiếu</a:t>
            </a:r>
          </a:p>
        </p:txBody>
      </p:sp>
      <p:sp>
        <p:nvSpPr>
          <p:cNvPr id="5" name="Rectangle 4"/>
          <p:cNvSpPr/>
          <p:nvPr/>
        </p:nvSpPr>
        <p:spPr>
          <a:xfrm>
            <a:off x="685800" y="1627632"/>
            <a:ext cx="10817352" cy="1097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020824"/>
            <a:ext cx="274320" cy="274320"/>
          </a:xfrm>
          <a:prstGeom prst="rect">
            <a:avLst/>
          </a:prstGeom>
          <a:noFill/>
        </p:spPr>
        <p:txBody>
          <a:bodyPr wrap="square" lIns="0" rIns="0" tIns="0" bIns="0">
            <a:spAutoFit/>
          </a:bodyPr>
          <a:lstStyle/>
          <a:p>
            <a:pPr algn="l">
              <a:lnSpc>
                <a:spcPct val="125000"/>
              </a:lnSpc>
              <a:spcAft>
                <a:spcPts val="600"/>
              </a:spcAft>
            </a:pPr>
            <a:r>
              <a:rPr sz="1550" b="0">
                <a:solidFill>
                  <a:srgbClr val="9C5518"/>
                </a:solidFill>
                <a:latin typeface="Consolas"/>
              </a:rPr>
              <a:t>—</a:t>
            </a:r>
          </a:p>
        </p:txBody>
      </p:sp>
      <p:sp>
        <p:nvSpPr>
          <p:cNvPr id="7" name="TextBox 6"/>
          <p:cNvSpPr txBox="1"/>
          <p:nvPr/>
        </p:nvSpPr>
        <p:spPr>
          <a:xfrm>
            <a:off x="1069848" y="2020824"/>
            <a:ext cx="10497312" cy="758952"/>
          </a:xfrm>
          <a:prstGeom prst="rect">
            <a:avLst/>
          </a:prstGeom>
          <a:noFill/>
        </p:spPr>
        <p:txBody>
          <a:bodyPr wrap="square" lIns="0" rIns="0" tIns="0" bIns="0">
            <a:spAutoFit/>
          </a:bodyPr>
          <a:lstStyle/>
          <a:p>
            <a:pPr algn="l">
              <a:lnSpc>
                <a:spcPct val="122000"/>
              </a:lnSpc>
              <a:spcAft>
                <a:spcPts val="600"/>
              </a:spcAft>
            </a:pPr>
            <a:r>
              <a:rPr sz="1550" b="1">
                <a:solidFill>
                  <a:srgbClr val="12191D"/>
                </a:solidFill>
                <a:latin typeface="Segoe UI"/>
              </a:rPr>
              <a:t>Baseline PMSS — chưa chạy. </a:t>
            </a:r>
            <a:r>
              <a:rPr sz="1550" b="0">
                <a:solidFill>
                  <a:srgbClr val="54636C"/>
                </a:solidFill>
                <a:latin typeface="Segoe UI"/>
              </a:rPr>
              <a:t>Paper gần nhất: cũng pivoted QR chọn hàng/cột của W₀, cũng ràng buộc vào không gian con sinh bởi chúng. Khác biệt là họ ép cả hai phía, ta ép một phía. Không có baseline này thì không qua được vòng novelty.</a:t>
            </a:r>
          </a:p>
        </p:txBody>
      </p:sp>
      <p:sp>
        <p:nvSpPr>
          <p:cNvPr id="8" name="TextBox 7"/>
          <p:cNvSpPr txBox="1"/>
          <p:nvPr/>
        </p:nvSpPr>
        <p:spPr>
          <a:xfrm>
            <a:off x="685800" y="2779776"/>
            <a:ext cx="274320" cy="274320"/>
          </a:xfrm>
          <a:prstGeom prst="rect">
            <a:avLst/>
          </a:prstGeom>
          <a:noFill/>
        </p:spPr>
        <p:txBody>
          <a:bodyPr wrap="square" lIns="0" rIns="0" tIns="0" bIns="0">
            <a:spAutoFit/>
          </a:bodyPr>
          <a:lstStyle/>
          <a:p>
            <a:pPr algn="l">
              <a:lnSpc>
                <a:spcPct val="125000"/>
              </a:lnSpc>
              <a:spcAft>
                <a:spcPts val="600"/>
              </a:spcAft>
            </a:pPr>
            <a:r>
              <a:rPr sz="1550" b="0">
                <a:solidFill>
                  <a:srgbClr val="9C5518"/>
                </a:solidFill>
                <a:latin typeface="Consolas"/>
              </a:rPr>
              <a:t>—</a:t>
            </a:r>
          </a:p>
        </p:txBody>
      </p:sp>
      <p:sp>
        <p:nvSpPr>
          <p:cNvPr id="9" name="TextBox 8"/>
          <p:cNvSpPr txBox="1"/>
          <p:nvPr/>
        </p:nvSpPr>
        <p:spPr>
          <a:xfrm>
            <a:off x="1069848" y="2779776"/>
            <a:ext cx="10497312" cy="758952"/>
          </a:xfrm>
          <a:prstGeom prst="rect">
            <a:avLst/>
          </a:prstGeom>
          <a:noFill/>
        </p:spPr>
        <p:txBody>
          <a:bodyPr wrap="square" lIns="0" rIns="0" tIns="0" bIns="0">
            <a:spAutoFit/>
          </a:bodyPr>
          <a:lstStyle/>
          <a:p>
            <a:pPr algn="l">
              <a:lnSpc>
                <a:spcPct val="122000"/>
              </a:lnSpc>
              <a:spcAft>
                <a:spcPts val="600"/>
              </a:spcAft>
            </a:pPr>
            <a:r>
              <a:rPr sz="1550" b="1">
                <a:solidFill>
                  <a:srgbClr val="12191D"/>
                </a:solidFill>
                <a:latin typeface="Segoe UI"/>
              </a:rPr>
              <a:t>Một model, một benchmark. </a:t>
            </a:r>
            <a:r>
              <a:rPr sz="1550" b="0">
                <a:solidFill>
                  <a:srgbClr val="54636C"/>
                </a:solidFill>
                <a:latin typeface="Segoe UI"/>
              </a:rPr>
              <a:t>Chỉ E2E NLG trên Qwen2.5-1.5B. Cần DART hoặc WebNLG.</a:t>
            </a:r>
          </a:p>
        </p:txBody>
      </p:sp>
      <p:sp>
        <p:nvSpPr>
          <p:cNvPr id="10" name="TextBox 9"/>
          <p:cNvSpPr txBox="1"/>
          <p:nvPr/>
        </p:nvSpPr>
        <p:spPr>
          <a:xfrm>
            <a:off x="685800" y="3538728"/>
            <a:ext cx="274320" cy="274320"/>
          </a:xfrm>
          <a:prstGeom prst="rect">
            <a:avLst/>
          </a:prstGeom>
          <a:noFill/>
        </p:spPr>
        <p:txBody>
          <a:bodyPr wrap="square" lIns="0" rIns="0" tIns="0" bIns="0">
            <a:spAutoFit/>
          </a:bodyPr>
          <a:lstStyle/>
          <a:p>
            <a:pPr algn="l">
              <a:lnSpc>
                <a:spcPct val="125000"/>
              </a:lnSpc>
              <a:spcAft>
                <a:spcPts val="600"/>
              </a:spcAft>
            </a:pPr>
            <a:r>
              <a:rPr sz="1550" b="0">
                <a:solidFill>
                  <a:srgbClr val="9C5518"/>
                </a:solidFill>
                <a:latin typeface="Consolas"/>
              </a:rPr>
              <a:t>—</a:t>
            </a:r>
          </a:p>
        </p:txBody>
      </p:sp>
      <p:sp>
        <p:nvSpPr>
          <p:cNvPr id="11" name="TextBox 10"/>
          <p:cNvSpPr txBox="1"/>
          <p:nvPr/>
        </p:nvSpPr>
        <p:spPr>
          <a:xfrm>
            <a:off x="1069848" y="3538728"/>
            <a:ext cx="10497312" cy="758952"/>
          </a:xfrm>
          <a:prstGeom prst="rect">
            <a:avLst/>
          </a:prstGeom>
          <a:noFill/>
        </p:spPr>
        <p:txBody>
          <a:bodyPr wrap="square" lIns="0" rIns="0" tIns="0" bIns="0">
            <a:spAutoFit/>
          </a:bodyPr>
          <a:lstStyle/>
          <a:p>
            <a:pPr algn="l">
              <a:lnSpc>
                <a:spcPct val="122000"/>
              </a:lnSpc>
              <a:spcAft>
                <a:spcPts val="600"/>
              </a:spcAft>
            </a:pPr>
            <a:r>
              <a:rPr sz="1550" b="1">
                <a:solidFill>
                  <a:srgbClr val="12191D"/>
                </a:solidFill>
                <a:latin typeface="Segoe UI"/>
              </a:rPr>
              <a:t>Một hướng ma trận. </a:t>
            </a:r>
            <a:r>
              <a:rPr sz="1550" b="0">
                <a:solidFill>
                  <a:srgbClr val="54636C"/>
                </a:solidFill>
                <a:latin typeface="Segoe UI"/>
              </a:rPr>
              <a:t>k_proj/v_proj đều béo ngang. Nhánh cao dọc (gate_proj, up_proj) chưa kiểm chứng.</a:t>
            </a:r>
          </a:p>
        </p:txBody>
      </p:sp>
      <p:sp>
        <p:nvSpPr>
          <p:cNvPr id="12" name="TextBox 11"/>
          <p:cNvSpPr txBox="1"/>
          <p:nvPr/>
        </p:nvSpPr>
        <p:spPr>
          <a:xfrm>
            <a:off x="685800" y="4297679"/>
            <a:ext cx="274320" cy="274320"/>
          </a:xfrm>
          <a:prstGeom prst="rect">
            <a:avLst/>
          </a:prstGeom>
          <a:noFill/>
        </p:spPr>
        <p:txBody>
          <a:bodyPr wrap="square" lIns="0" rIns="0" tIns="0" bIns="0">
            <a:spAutoFit/>
          </a:bodyPr>
          <a:lstStyle/>
          <a:p>
            <a:pPr algn="l">
              <a:lnSpc>
                <a:spcPct val="125000"/>
              </a:lnSpc>
              <a:spcAft>
                <a:spcPts val="600"/>
              </a:spcAft>
            </a:pPr>
            <a:r>
              <a:rPr sz="1550" b="0">
                <a:solidFill>
                  <a:srgbClr val="9C5518"/>
                </a:solidFill>
                <a:latin typeface="Consolas"/>
              </a:rPr>
              <a:t>—</a:t>
            </a:r>
          </a:p>
        </p:txBody>
      </p:sp>
      <p:sp>
        <p:nvSpPr>
          <p:cNvPr id="13" name="TextBox 12"/>
          <p:cNvSpPr txBox="1"/>
          <p:nvPr/>
        </p:nvSpPr>
        <p:spPr>
          <a:xfrm>
            <a:off x="1069848" y="4297679"/>
            <a:ext cx="10497312" cy="758952"/>
          </a:xfrm>
          <a:prstGeom prst="rect">
            <a:avLst/>
          </a:prstGeom>
          <a:noFill/>
        </p:spPr>
        <p:txBody>
          <a:bodyPr wrap="square" lIns="0" rIns="0" tIns="0" bIns="0">
            <a:spAutoFit/>
          </a:bodyPr>
          <a:lstStyle/>
          <a:p>
            <a:pPr algn="l">
              <a:lnSpc>
                <a:spcPct val="122000"/>
              </a:lnSpc>
              <a:spcAft>
                <a:spcPts val="600"/>
              </a:spcAft>
            </a:pPr>
            <a:r>
              <a:rPr sz="1550" b="1">
                <a:solidFill>
                  <a:srgbClr val="12191D"/>
                </a:solidFill>
                <a:latin typeface="Segoe UI"/>
              </a:rPr>
              <a:t>Phủ 1.4% model. </a:t>
            </a:r>
            <a:r>
              <a:rPr sz="1550" b="0">
                <a:solidFill>
                  <a:srgbClr val="54636C"/>
                </a:solidFill>
                <a:latin typeface="Segoe UI"/>
              </a:rPr>
              <a:t>k_proj+v_proj chỉ chiếm 22.0 M trên 1,543.7 M trọng số. Ma trận vuông (q_proj, o_proj) không phân rã được.</a:t>
            </a:r>
          </a:p>
        </p:txBody>
      </p:sp>
      <p:sp>
        <p:nvSpPr>
          <p:cNvPr id="14" name="TextBox 13"/>
          <p:cNvSpPr txBox="1"/>
          <p:nvPr/>
        </p:nvSpPr>
        <p:spPr>
          <a:xfrm>
            <a:off x="685800" y="5056631"/>
            <a:ext cx="274320" cy="274320"/>
          </a:xfrm>
          <a:prstGeom prst="rect">
            <a:avLst/>
          </a:prstGeom>
          <a:noFill/>
        </p:spPr>
        <p:txBody>
          <a:bodyPr wrap="square" lIns="0" rIns="0" tIns="0" bIns="0">
            <a:spAutoFit/>
          </a:bodyPr>
          <a:lstStyle/>
          <a:p>
            <a:pPr algn="l">
              <a:lnSpc>
                <a:spcPct val="125000"/>
              </a:lnSpc>
              <a:spcAft>
                <a:spcPts val="600"/>
              </a:spcAft>
            </a:pPr>
            <a:r>
              <a:rPr sz="1550" b="0">
                <a:solidFill>
                  <a:srgbClr val="9C5518"/>
                </a:solidFill>
                <a:latin typeface="Consolas"/>
              </a:rPr>
              <a:t>—</a:t>
            </a:r>
          </a:p>
        </p:txBody>
      </p:sp>
      <p:sp>
        <p:nvSpPr>
          <p:cNvPr id="15" name="TextBox 14"/>
          <p:cNvSpPr txBox="1"/>
          <p:nvPr/>
        </p:nvSpPr>
        <p:spPr>
          <a:xfrm>
            <a:off x="1069848" y="5056631"/>
            <a:ext cx="10497312" cy="758952"/>
          </a:xfrm>
          <a:prstGeom prst="rect">
            <a:avLst/>
          </a:prstGeom>
          <a:noFill/>
        </p:spPr>
        <p:txBody>
          <a:bodyPr wrap="square" lIns="0" rIns="0" tIns="0" bIns="0">
            <a:spAutoFit/>
          </a:bodyPr>
          <a:lstStyle/>
          <a:p>
            <a:pPr algn="l">
              <a:lnSpc>
                <a:spcPct val="122000"/>
              </a:lnSpc>
              <a:spcAft>
                <a:spcPts val="600"/>
              </a:spcAft>
            </a:pPr>
            <a:r>
              <a:rPr sz="1550" b="1">
                <a:solidFill>
                  <a:srgbClr val="12191D"/>
                </a:solidFill>
                <a:latin typeface="Segoe UI"/>
              </a:rPr>
              <a:t>BLEU tự implement, n=2 ở r=1, 2, 16. </a:t>
            </a:r>
            <a:r>
              <a:rPr sz="1550" b="0">
                <a:solidFill>
                  <a:srgbClr val="54636C"/>
                </a:solidFill>
                <a:latin typeface="Segoe UI"/>
              </a:rPr>
              <a:t>Số cho paper phải chạy e2e-metrics chính thức; chỉ r=4 và r=8 có đủ 3 seed.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D6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777240"/>
            <a:ext cx="10058400" cy="274320"/>
          </a:xfrm>
          <a:prstGeom prst="rect">
            <a:avLst/>
          </a:prstGeom>
          <a:noFill/>
        </p:spPr>
        <p:txBody>
          <a:bodyPr wrap="square" lIns="0" rIns="0" tIns="0" bIns="0">
            <a:spAutoFit/>
          </a:bodyPr>
          <a:lstStyle/>
          <a:p>
            <a:pPr algn="l">
              <a:lnSpc>
                <a:spcPct val="125000"/>
              </a:lnSpc>
              <a:spcAft>
                <a:spcPts val="600"/>
              </a:spcAft>
            </a:pPr>
            <a:r>
              <a:rPr sz="1200" b="1">
                <a:solidFill>
                  <a:srgbClr val="0D6F68"/>
                </a:solidFill>
                <a:latin typeface="Consolas"/>
              </a:rPr>
              <a:t>KẾT LUẬN</a:t>
            </a:r>
          </a:p>
        </p:txBody>
      </p:sp>
      <p:sp>
        <p:nvSpPr>
          <p:cNvPr id="5" name="TextBox 4"/>
          <p:cNvSpPr txBox="1"/>
          <p:nvPr/>
        </p:nvSpPr>
        <p:spPr>
          <a:xfrm>
            <a:off x="1188720" y="1097280"/>
            <a:ext cx="10058400" cy="640080"/>
          </a:xfrm>
          <a:prstGeom prst="rect">
            <a:avLst/>
          </a:prstGeom>
          <a:noFill/>
        </p:spPr>
        <p:txBody>
          <a:bodyPr wrap="square" lIns="0" rIns="0" tIns="0" bIns="0">
            <a:spAutoFit/>
          </a:bodyPr>
          <a:lstStyle/>
          <a:p>
            <a:pPr algn="l">
              <a:lnSpc>
                <a:spcPct val="125000"/>
              </a:lnSpc>
              <a:spcAft>
                <a:spcPts val="600"/>
              </a:spcAft>
            </a:pPr>
            <a:r>
              <a:rPr sz="3600" b="0">
                <a:solidFill>
                  <a:srgbClr val="12191D"/>
                </a:solidFill>
                <a:latin typeface="Georgia"/>
              </a:rPr>
              <a:t>Tóm lại</a:t>
            </a:r>
          </a:p>
        </p:txBody>
      </p:sp>
      <p:sp>
        <p:nvSpPr>
          <p:cNvPr id="6" name="TextBox 5"/>
          <p:cNvSpPr txBox="1"/>
          <p:nvPr/>
        </p:nvSpPr>
        <p:spPr>
          <a:xfrm>
            <a:off x="1188720" y="2011680"/>
            <a:ext cx="274320" cy="274320"/>
          </a:xfrm>
          <a:prstGeom prst="rect">
            <a:avLst/>
          </a:prstGeom>
          <a:noFill/>
        </p:spPr>
        <p:txBody>
          <a:bodyPr wrap="square" lIns="0" rIns="0" tIns="0" bIns="0">
            <a:spAutoFit/>
          </a:bodyPr>
          <a:lstStyle/>
          <a:p>
            <a:pPr algn="l">
              <a:lnSpc>
                <a:spcPct val="125000"/>
              </a:lnSpc>
              <a:spcAft>
                <a:spcPts val="600"/>
              </a:spcAft>
            </a:pPr>
            <a:r>
              <a:rPr sz="1550" b="0">
                <a:solidFill>
                  <a:srgbClr val="0D6F68"/>
                </a:solidFill>
                <a:latin typeface="Consolas"/>
              </a:rPr>
              <a:t>—</a:t>
            </a:r>
          </a:p>
        </p:txBody>
      </p:sp>
      <p:sp>
        <p:nvSpPr>
          <p:cNvPr id="7" name="TextBox 6"/>
          <p:cNvSpPr txBox="1"/>
          <p:nvPr/>
        </p:nvSpPr>
        <p:spPr>
          <a:xfrm>
            <a:off x="1572768" y="2011680"/>
            <a:ext cx="9491472" cy="914400"/>
          </a:xfrm>
          <a:prstGeom prst="rect">
            <a:avLst/>
          </a:prstGeom>
          <a:noFill/>
        </p:spPr>
        <p:txBody>
          <a:bodyPr wrap="square" lIns="0" rIns="0" tIns="0" bIns="0">
            <a:spAutoFit/>
          </a:bodyPr>
          <a:lstStyle/>
          <a:p>
            <a:pPr algn="l">
              <a:lnSpc>
                <a:spcPct val="122000"/>
              </a:lnSpc>
              <a:spcAft>
                <a:spcPts val="600"/>
              </a:spcAft>
            </a:pPr>
            <a:r>
              <a:rPr sz="1550" b="1">
                <a:solidFill>
                  <a:srgbClr val="12191D"/>
                </a:solidFill>
                <a:latin typeface="Segoe UI"/>
              </a:rPr>
              <a:t>Phân rã chính xác, bảo toàn tham số và FLOP, gộp lại được. </a:t>
            </a:r>
            <a:r>
              <a:rPr sz="1550" b="0">
                <a:solidFill>
                  <a:srgbClr val="54636C"/>
                </a:solidFill>
                <a:latin typeface="Segoe UI"/>
              </a:rPr>
              <a:t>Đối tượng train là ma trận vuông k×k vẫn mang giá trị pretrained.</a:t>
            </a:r>
          </a:p>
        </p:txBody>
      </p:sp>
      <p:sp>
        <p:nvSpPr>
          <p:cNvPr id="8" name="TextBox 7"/>
          <p:cNvSpPr txBox="1"/>
          <p:nvPr/>
        </p:nvSpPr>
        <p:spPr>
          <a:xfrm>
            <a:off x="1188720" y="2926080"/>
            <a:ext cx="274320" cy="274320"/>
          </a:xfrm>
          <a:prstGeom prst="rect">
            <a:avLst/>
          </a:prstGeom>
          <a:noFill/>
        </p:spPr>
        <p:txBody>
          <a:bodyPr wrap="square" lIns="0" rIns="0" tIns="0" bIns="0">
            <a:spAutoFit/>
          </a:bodyPr>
          <a:lstStyle/>
          <a:p>
            <a:pPr algn="l">
              <a:lnSpc>
                <a:spcPct val="125000"/>
              </a:lnSpc>
              <a:spcAft>
                <a:spcPts val="600"/>
              </a:spcAft>
            </a:pPr>
            <a:r>
              <a:rPr sz="1550" b="0">
                <a:solidFill>
                  <a:srgbClr val="0D6F68"/>
                </a:solidFill>
                <a:latin typeface="Consolas"/>
              </a:rPr>
              <a:t>—</a:t>
            </a:r>
          </a:p>
        </p:txBody>
      </p:sp>
      <p:sp>
        <p:nvSpPr>
          <p:cNvPr id="9" name="TextBox 8"/>
          <p:cNvSpPr txBox="1"/>
          <p:nvPr/>
        </p:nvSpPr>
        <p:spPr>
          <a:xfrm>
            <a:off x="1572768" y="2926080"/>
            <a:ext cx="9491472" cy="914400"/>
          </a:xfrm>
          <a:prstGeom prst="rect">
            <a:avLst/>
          </a:prstGeom>
          <a:noFill/>
        </p:spPr>
        <p:txBody>
          <a:bodyPr wrap="square" lIns="0" rIns="0" tIns="0" bIns="0">
            <a:spAutoFit/>
          </a:bodyPr>
          <a:lstStyle/>
          <a:p>
            <a:pPr algn="l">
              <a:lnSpc>
                <a:spcPct val="122000"/>
              </a:lnSpc>
              <a:spcAft>
                <a:spcPts val="600"/>
              </a:spcAft>
            </a:pPr>
            <a:r>
              <a:rPr sz="1550" b="1">
                <a:solidFill>
                  <a:srgbClr val="12191D"/>
                </a:solidFill>
                <a:latin typeface="Segoe UI"/>
              </a:rPr>
              <a:t>Ở ngân sách thấp, ràng buộc hoạt động như regularizer. 65.22 BLEU với 0.057 M — </a:t>
            </a:r>
            <a:r>
              <a:rPr sz="1550" b="0">
                <a:solidFill>
                  <a:srgbClr val="54636C"/>
                </a:solidFill>
                <a:latin typeface="Segoe UI"/>
              </a:rPr>
              <a:t>vượt cả train tự do 22.0 M (64.26), và LoRA cần 14× tham số mới theo kịp.</a:t>
            </a:r>
          </a:p>
        </p:txBody>
      </p:sp>
      <p:sp>
        <p:nvSpPr>
          <p:cNvPr id="10" name="TextBox 9"/>
          <p:cNvSpPr txBox="1"/>
          <p:nvPr/>
        </p:nvSpPr>
        <p:spPr>
          <a:xfrm>
            <a:off x="1188720" y="3840480"/>
            <a:ext cx="274320" cy="274320"/>
          </a:xfrm>
          <a:prstGeom prst="rect">
            <a:avLst/>
          </a:prstGeom>
          <a:noFill/>
        </p:spPr>
        <p:txBody>
          <a:bodyPr wrap="square" lIns="0" rIns="0" tIns="0" bIns="0">
            <a:spAutoFit/>
          </a:bodyPr>
          <a:lstStyle/>
          <a:p>
            <a:pPr algn="l">
              <a:lnSpc>
                <a:spcPct val="125000"/>
              </a:lnSpc>
              <a:spcAft>
                <a:spcPts val="600"/>
              </a:spcAft>
            </a:pPr>
            <a:r>
              <a:rPr sz="1550" b="0">
                <a:solidFill>
                  <a:srgbClr val="0D6F68"/>
                </a:solidFill>
                <a:latin typeface="Consolas"/>
              </a:rPr>
              <a:t>—</a:t>
            </a:r>
          </a:p>
        </p:txBody>
      </p:sp>
      <p:sp>
        <p:nvSpPr>
          <p:cNvPr id="11" name="TextBox 10"/>
          <p:cNvSpPr txBox="1"/>
          <p:nvPr/>
        </p:nvSpPr>
        <p:spPr>
          <a:xfrm>
            <a:off x="1572768" y="3840480"/>
            <a:ext cx="9491472" cy="914400"/>
          </a:xfrm>
          <a:prstGeom prst="rect">
            <a:avLst/>
          </a:prstGeom>
          <a:noFill/>
        </p:spPr>
        <p:txBody>
          <a:bodyPr wrap="square" lIns="0" rIns="0" tIns="0" bIns="0">
            <a:spAutoFit/>
          </a:bodyPr>
          <a:lstStyle/>
          <a:p>
            <a:pPr algn="l">
              <a:lnSpc>
                <a:spcPct val="122000"/>
              </a:lnSpc>
              <a:spcAft>
                <a:spcPts val="600"/>
              </a:spcAft>
            </a:pPr>
            <a:r>
              <a:rPr sz="1550" b="1">
                <a:solidFill>
                  <a:srgbClr val="12191D"/>
                </a:solidFill>
                <a:latin typeface="Segoe UI"/>
              </a:rPr>
              <a:t>Lợi thế biến mất ở ngân sách lớn và đảo chiều ở rank 1. </a:t>
            </a:r>
            <a:r>
              <a:rPr sz="1550" b="0">
                <a:solidFill>
                  <a:srgbClr val="54636C"/>
                </a:solidFill>
                <a:latin typeface="Segoe UI"/>
              </a:rPr>
              <a:t>Trình bày nó đúng như vậy: một công cụ cho chế độ ngân sách thấp.</a:t>
            </a:r>
          </a:p>
        </p:txBody>
      </p:sp>
      <p:sp>
        <p:nvSpPr>
          <p:cNvPr id="12" name="Rectangle 11"/>
          <p:cNvSpPr/>
          <p:nvPr/>
        </p:nvSpPr>
        <p:spPr>
          <a:xfrm>
            <a:off x="1188720" y="5029200"/>
            <a:ext cx="2743200" cy="10972"/>
          </a:xfrm>
          <a:prstGeom prst="rect">
            <a:avLst/>
          </a:prstGeom>
          <a:solidFill>
            <a:srgbClr val="DDE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5257800"/>
            <a:ext cx="10058400" cy="1097280"/>
          </a:xfrm>
          <a:prstGeom prst="rect">
            <a:avLst/>
          </a:prstGeom>
          <a:noFill/>
        </p:spPr>
        <p:txBody>
          <a:bodyPr wrap="square" lIns="0" rIns="0" tIns="0" bIns="0">
            <a:spAutoFit/>
          </a:bodyPr>
          <a:lstStyle/>
          <a:p>
            <a:pPr algn="l">
              <a:lnSpc>
                <a:spcPct val="130000"/>
              </a:lnSpc>
              <a:spcAft>
                <a:spcPts val="600"/>
              </a:spcAft>
            </a:pPr>
            <a:r>
              <a:rPr sz="1400" b="1">
                <a:solidFill>
                  <a:srgbClr val="12191D"/>
                </a:solidFill>
                <a:latin typeface="Segoe UI"/>
              </a:rPr>
              <a:t>Bước tiếp theo: </a:t>
            </a:r>
            <a:r>
              <a:rPr sz="1400" b="0">
                <a:solidFill>
                  <a:srgbClr val="54636C"/>
                </a:solidFill>
                <a:latin typeface="Segoe UI"/>
              </a:rPr>
              <a:t>chạy PMSS và LoRA-FA · đo ρ trên target-ft · thêm DART/WebNLG · kiểm chứng nhánh cao dọc · chốt lại tên (S-LoRA đã bị Sheng et al., MLSys 2024 dùng cho hệ phục vụ adapter).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